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大家好，欢迎来到今天的课程！今天我们要一起了解一个非常有意思的项目——Mercury。首先，让我们从项目的整体概况开始，快速建立一个全局认知。
Mercury 的产品定位是：一款跨平台、本地优先、AI 增强型的 RSS 阅读器。这里有三个关键词值得我们注意。第一，'跨平台'意味着它需要同时覆盖多个操作系统，比如桌面端和移动端；第二，'本地优先'说明数据主要存储在用户本地，保障隐私和离线可用性；第三，'AI 增强'则是这个项目最大的亮点——利用人工智能来提升阅读体验。这三个特性组合在一起，让 Mercury 在众多 RSS 阅读器中有了差异化的竞争力。
接下来看核心目标。Mercury 要完成的是一条完整的主链路 MVP，也就是最小可行产品。这条链路包括：订阅、获取、清洗、阅读、总结、翻译、标签、导出，一共八个环节。大家可以把它想象成一条流水线——用户从订阅一个 RSS 源开始，系统自动获取内容、清洗掉无用的格式和广告，然后呈现给用户阅读。而 AI 的能力就体现在后半段：自动总结文章要点、翻译多语言内容、智能打标签分类，最后还能导出到其他工具中。这条链路跑通了，产品的核心价值就立住了。
再来看团队配置。整个项目团队一共 8 个人，分成 4 个小组并行开发。这种分组策略其实很讲究——8 个人如果全挤在一条线上，协作成本会非常高。分成 4 组，每组 2 人，各自负责链路中的不同模块，既能保持开发效率，又能减少代码冲突。
最后是开发周期：5 周时间，从 5 月 18 号到 6 月 21 号。5 周要完成一个涵盖 8 个环节的 MVP，时间是相当紧凑的。这就要求团队在架构设计和任务拆分上必须非常清晰，每一周都要有明确的交付目标。
好，我们来简单回顾一下这页的内容：Mercury 是一款跨平台、本地优先的 AI 增强型 RSS 阅读器，核心目标是跑通从订阅到导出的完整链路，由 8 人团队在 5 周内完成。大家对项目全貌有一个初步印象了，接下来我们会深入到具体的技术方案和模块设计中去。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好，接下来我们进入一个非常关键的环节——技术栈选型。技术选型就像盖房子之前选建材，选对了事半功倍，选错了后面会非常痛苦。我们来看看这个项目在各个层级上分别做了怎样的选择，以及背后的考量。
请大家把目光聚焦到这张技术栈分层表。这张表把整个项目的技术方案按层级清晰地列了出来。桌面框架选用的是 Electron，前端采用 Vue3 配合 TypeScript 和 Vite 构建工具。UI 方面、数据库、Feed 解析、内容清洗、AI 接入、打包和测试，每一层都有对应的技术方案。我们逐一来看其中几个核心选型。
首先是本地优先架构这个设计理念。数据库选用了 SQLite，具体使用的是 better-sqlite3 这个库。为什么要做本地优先？因为作为一个 RSS 阅读器，用户的订阅数据、阅读记录这些都是非常私密且高频访问的数据，放在本地不仅响应速度快，而且不依赖网络，离线也能正常使用。SQLite 轻量、嵌入式、零配置，非常适合桌面应用的场景。
然后是跨平台能力。Electron 虽然常被吐槽包体大、内存占用高，但不可否认它在跨平台桌面开发领域仍然是最成熟的方案之一。一套代码可以同时打包成 Windows、macOS 和 Linux 应用，对于中小团队来说，这个开发效率的提升是实实在在的。内容处理方面，我们用 rss-parser 做 Feed 解析，用 Mozilla 的 readability 库提取正文，再通过 turndown 把 HTML 转成 Markdown，这一套组合拳可以非常干净地把各种来源的文章内容标准化。
最后一个亮点是 AI 接入方案。项目采用了 OpenAI 兼容的 API 接口，通过官方的 openai SDK 来调用，并且支持流式调用。流式调用是什么意思呢？就是 AI 生成内容的时候，不是等全部生成完再返回，而是像打字一样一个字一个字地往外吐，用户体验会好很多，不用干等着一个空白页面。而且因为用的是兼容接口，将来要换模型供应商也非常方便，不会被锁死在某一家。
总结一下这页的内容：整个技术栈的选型思路非常清晰——Electron 保证跨平台，Vue3 加 TypeScript 保证前端的开发效率和代码质量，SQLite 实现本地优先的数据策略，rss-parser 加 readability 加 turndown 完成内容处理链路，OpenAI 兼容 API 实现灵活的 AI 能力接入。每一层的选择都是围绕'轻量、高效、可扩展'这几个原则来的。大家对这些技术选型有没有什么疑问？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接下来我们来看一下团队分工。一个好的项目离不开清晰的模块划分和明确的职责分配，这样才能高效地并行推进开发。我们整个项目采用的是"先搭骨架、再并行模块开发"的策略，下面我们逐一来看。
首先是第一周的 Demo 骨架阶段，由潘飞扬同学独立完成项目初始化与基础骨架搭建。这一步非常关键，相当于给整个项目定下了技术框架和目录结构，后续所有模块都是在这个骨架上生长出来的。骨架搭好了，大家才能各自分头开发而不会互相冲突。
模块 A 是订阅与数据模块，由陆锦云和颜泽宇两位同学负责。他们的核心任务包括 Feed 解析、OPML 导入以及刷新同步。这个模块是整个应用的数据入口——没有数据源，后面的阅读、摘要都无从谈起，所以这是一个非常基础且重要的模块。
模块 B 是清洗与阅读模块，由于海洋和刘昊阳负责。他们要做的是内容清洗、Markdown 转换以及 Reader View 阅读视图的实现。大家可以理解为：模块 A 把原始数据拿进来，模块 B 负责把这些"脏数据"清理干净、转成优雅的阅读格式呈现给用户。两个模块之间有明确的接口约定。
模块 C 是 AI 摘要与翻译模块，由林宇轩和孙佳杰负责。这个模块涉及 LLM Provider 的接入、Summary Agent 和 Translation Agent 的实现。可以说这是我们项目最有技术亮点的部分——通过大语言模型为用户自动生成文章摘要和翻译，大大提升阅读效率。
最后是模块 D，标签、导出与设置模块，由潘飞扬和张震负责。这个模块包括标签管理、导出功能以及 LLM 配置。大家注意，潘飞扬同学在搭完骨架后又加入了模块 D 的开发，承担了更多的工作量，非常辛苦。
总结一下：我们整体采用四大模块并行开发的方式，每个模块两人协作，模块之间有明确的边界和接口定义。这种分工方式既保证了开发效率，又降低了模块间的耦合度。只要接口约定好，大家可以各自独立推进，最后集成时就会顺畅很多。好，大家对分工有没有什么疑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好，接下来我们来看一个非常关键的部分——开发计划与时间线。磨刀不误砍柴工，一个清晰的开发计划能让我们整个团队高效协作、有序推进。
我们采用的是「1 + 3 + 1」的开发结构，整体五周交付。大家看这个结构：1周搭骨架，3周并行开发，1周集成收尾。这个节奏设计得非常紧凑但合理，每个阶段都有明确的目标。
首先是第1周——骨架搭建。这一周我们要完成 Demo 的基础框架，包括项目的目录结构、技术选型落地、基础组件搭建等等。这一步非常重要，它是后续四组并行开发的基础。骨架搭不好，后面并行的时候就会出现各种冲突和返工。
接下来是核心的3周并行开发阶段，也就是第2到第4周。这三周是整个项目产出最密集的阶段。
第2周，4个小组各自用 Mock 数据独立开发。为什么用 Mock 数据？因为后端接口可能还没完全准备好，但前端不能干等着。Mock 数据让每个组可以独立跑起来，互不阻塞。第3周开始前后端接口对接，把 Mock 数据替换成真实接口。第4周则进入联调优化阶段，重点解决功能联通后的各种适配问题和性能优化。
最后是第5周——集成收尾。这一周的任务很明确，大家看这里。
集成测试、Bug 修复、文档整理、演示准备，四件事缺一不可。很多团队容易忽略文档和演示准备，觉得功能做完就行了，但实际上一个好的演示和完善的文档，才是项目交付质量的体现。
还有一个关键机制——每周检查点。我们不是五周后才来验收，而是每周都有检查。
验收方式包括截图、录屏和端到端演示。这三种方式层层递进：截图证明你做了，录屏证明能跑，端到端演示证明整体功能是通的。这样每周都能及时发现问题、及时调整，避免最后一周才发现大面积的问题。好，这就是我们五周的整体开发节奏，大家对自己所在的阶段和任务要做到心中有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好，接下来我们进入非常关键的一页——各模块功能设计。这一页我们会把整个系统拆解成四大模块，逐一看清楚每个模块的核心功能点、接口规范以及交付标准。大家跟紧节奏，我们一个一个来。
首先来看模块 A——Feed 订阅与数据采集。这是整个系统的数据入口，相当于我们应用的"嘴巴"，负责把外部的信息"吃"进来。
具体来说，模块 A 需要实现 RSS 和 Atom 协议的解析，支持 OPML 格式的批量导入导出，这样用户可以一次性把自己在其他阅读器里的订阅源迁移过来。同时还要实现定时 Feed 刷新机制和文章去重逻辑，避免同一篇文章重复入库。最后还包括正文抓取能力，确保我们能拿到完整的文章内容。
接下来是模块 B——内容清洗与阅读体验。模块 A 拿到的原始数据往往是杂乱的 HTML，模块 B 的职责就是把这些"脏数据"变成干净、舒适的阅读内容。
这里我们采用 Readability 算法配合 jsdom 进行 HTML 清洗，提取正文主体内容。然后通过 Turndown 库将 HTML 转换为 Markdown 格式，方便后续存储和导出。同时还要实现 Reader View 渲染模式，让用户获得类似 Safari 阅读模式的沉浸式体验，并且支持自定义阅读样式。
然后是模块 C——AI 智能处理层，这是我们系统最具差异化竞争力的部分。
模块 C 的核心设计是 LLMProvider 统一抽象层，这意味着我们不会绑定某一个大语言模型，而是通过抽象层支持多种模型的灵活切换。在此基础上，我们构建了 Summary Agent 用于智能摘要生成，Translation Agent 用于多语言翻译，同时所有 AI 处理结果都会持久化存储并在前端展示，避免重复调用浪费算力。
最后是模块 D——管理与配置中心。这是整个应用的"控制台"。
模块 D 涵盖标签的增删改查与多维筛选功能，支持单篇文章的 Markdown 导出，提供 LLM 模型配置管理页面让用户自主选择和调整 AI 模型，以及全局应用设置等。这些功能虽然看起来是辅助性的，但直接影响用户的日常使用体验。
最后请大家特别注意这一点：所有模块都定义了清晰的 Service 接口签名，确保模块之间的对接规范统一。这是我们工程化协作的基础，无论谁负责哪个模块，只要遵循接口契约就能无缝集成。好，四大模块的功能设计就介绍到这里，大家对各模块的职责边界是否清晰了？我们继续往下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好，接下来我们来看一个非常关键的话题——模块依赖关系与并行开发策略。这部分内容直接决定了我们团队协作的效率，大家一定要认真理解。
我们先看数据流的起点。模块 A 负责抓取原始的 raw HTML，这是整个数据管线的源头。可以把它想象成一条流水线的第一道工序——没有原材料，后面的工序就没法运转。
模块 A 产出的 raw HTML 会传给模块 B。模块 B 的职责是清洗数据，把杂乱的 HTML 转换成结构化的 cleaned Markdown。这一步非常重要，因为后续的摘要和翻译都依赖于干净、规范的 Markdown 格式。
清洗后的 Markdown 流入模块 C，由它来完成摘要生成和翻译。注意，模块 C 不仅依赖模块 B 的数据，还需要模块 D 提供的 LLM 配置。
模块 D 是独立的 LLM 配置模块，它为模块 C 提供大语言模型的相关参数配置。这意味着模块 C 有两条依赖线——一条来自模块 B 的数据流，一条来自模块 D 的配置流。
最后是导出功能，它同时依赖模块 B 和模块 C 的数据。也就是说，导出模块是整个管线的末端汇聚点，必须等 B 和 C 都就绪才能正常工作。大家可以看到，模块之间的依赖关系形成了一张有向图，这对开发节奏的安排提出了很大的挑战。
那面对这样复杂的依赖关系，我们怎么做到并行开发、互不阻塞呢？来看右边的并行开发策略。
第 1 周，关键动作是预定义所有 Service 接口签名。这一步是整个并行策略的基石——各模块之间先约定好"我给你什么、你还给我什么"，把接口契约确定下来，后面每个组才能各干各的。
第 2 周，各组使用 mock 数据独立开发。因为接口签名已经定义好了，每个模块可以用模拟数据来替代上游的真实输出，这样即使模块 A 还没完成，模块 B 也能用假的 raw HTML 来开发和测试自己的清洗逻辑。这就是降低跨模块阻塞的核心思路。
第 3 周开始真实接口对接，把 mock 数据替换成真实的上游输出，验证各模块之间的数据流是否畅通。
第 4 周是跨模块联调阶段，把所有模块串起来做端到端的集成测试，确保整条管线从抓取到导出都能正常运转。
最后请大家记住这条关键策略：接口签名先行、mock 数据并行、真实对接、联调收尾。这四步走下来，就能最大程度地降低跨模块阻塞风险，让团队高效协作。好，这页的内容就是这些，大家对模块依赖和并行策略有没有什么疑问？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好，接下来我们来看一下项目的当前进展。这一页我们会把已经完成的里程碑和正在推进的工作做一个整体的梳理，让大家对项目状态有一个清晰的认识。
首先，第一个里程碑——Demo 骨架已经完成。我们基于 Electron 加 Vue3 搭建了三栏布局的应用框架，同时完成了 SQLite 数据模型的设计和搭建，Service 层的接口定义也已经落地。这意味着整个应用的技术底座已经稳固了，后续各模块的开发都可以在这个骨架上快速推进。
第二个里程碑是协作规范的建立。我们制定了 Git 分支管理规范，配置了 PR 模板和 Code Review 流程，项目文档规范也已经落地执行。这一步非常关键——团队协作如果没有统一的规范，随着代码量增长，后期维护成本会急剧上升。现在我们把这些基础工作做扎实了，后面的并行开发就会顺畅很多。
第三，各模块已经进入并行开发阶段。我们把功能模块进行了合理拆分，每个模块独立推进，核心功能正在持续开发中，各端的联调工作也在同步进行。这个阶段是整个项目推进速度最快的阶段，大家各司其职，齐头并进。
最后一个关键点——我们的验收标准已经非常明确了。从 OPML 导入，到刷新、阅读，再到 AI 摘要和翻译流程贯通，以及标签管理到导出，整个全链路都需要跑通。这就是我们最终要达到的交付标准。
大家注意看这里的细节：OPML 导入、刷新、阅读、AI 摘要、翻译、标签、导出——这是一条完整的用户使用链路。我们不是只验证单个功能，而是要确保用户从头到尾的使用体验是完整且流畅的。
所以总结一下，我们的目标非常清晰：端到端全链路功能验证通过。骨架有了，规范有了，各模块在并行推进，验收标准也已明确。接下来就是集中精力把各个模块的功能打磨到位，确保全链路跑通。大家继续保持这个节奏，我们离最终目标已经越来越近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好，接下来我们进入一个非常关键的环节——风险与应对。做项目管理，最怕的不是出问题，而是出了问题没有预案。所以我们提前把可能遇到的主要风险梳理出来，并且为每一项都准备好了应对策略。
第一个风险是模块 A 延迟。如果上游模块交付滞后，就会直接阻塞模块 B 和模块 C 的开发，形成连锁反应。这在实际项目中非常常见，依赖链一旦断裂，整个进度都会被拖住。
我们的应对策略是：B 和 C 在第2周就使用 mock 数据独立开发，不等 A 的真实输出。这样即使 A 延迟了，B 和 C 依然能并行推进，不会被阻塞。这个思路的核心就是——解耦依赖，保持并行。
第二个风险是 AI 接口不稳定。我们项目依赖第三方 AI 服务，而这类服务的响应有时会异常甚至不可用，这不是我们能控制的。
所以模块 C 会实现一套 mock fallback 机制，支持离线演示。即便 AI 服务挂了，我们的产品照样能跑起来、能交付，不会在演示现场翻车。
第三个风险是 Electron 跨平台打包问题。大家知道，Windows、macOS、Linux 三个平台的构建环境差异很大，一次性全部搞定几乎不现实。
我们的策略很务实：优先保证一个平台完整跑通，其余平台的兼容性问题列入 known issues，后续逐步修复。先确保核心交付，再迭代完善。
第四个风险发生在第4周的联调阶段。如果各模块的接口定义不一致，联调时就会出现大量冲突，甚至联调失败。
所以我们在第1周就定义好 Service 接口签名，提前锁定契约。这样各模块按照统一的接口规范开发，到联调时自然就能对接上，大幅降低不匹配的风险。这就是所谓的'契约先行'。
最后一个风险是人员进度不均。团队协作中，个别成员进度落后是难以避免的，但如果放任不管，就会拖累整体里程碑。
我们的做法是每周检查进度，及时发现问题。必要时进行跨组支援，确保关键里程碑能够按时达成。管理的本质就是提前预判、快速响应。好，以上就是我们识别的五大关键风险以及对应的预案，大家在实际执行中一定要时刻关注这些风险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54864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2C3E50"/>
                </a:solidFill>
                <a:latin typeface="Microsoft YaHei" pitchFamily="34" charset="0"/>
                <a:ea typeface="Microsoft YaHei" pitchFamily="34" charset="-122"/>
                <a:cs typeface="Microsoft YaHei" pitchFamily="34" charset="-120"/>
              </a:rPr>
              <a:t>Mercury 项目概况</a:t>
            </a:r>
            <a:endParaRPr lang="en-US" sz="1152" dirty="0"/>
          </a:p>
        </p:txBody>
      </p:sp>
      <p:sp>
        <p:nvSpPr>
          <p:cNvPr id="4" name="Shape 1"/>
          <p:cNvSpPr/>
          <p:nvPr/>
        </p:nvSpPr>
        <p:spPr>
          <a:xfrm>
            <a:off x="548640" y="1325880"/>
            <a:ext cx="8046720" cy="18288"/>
          </a:xfrm>
          <a:custGeom>
            <a:avLst/>
            <a:gdLst/>
            <a:ahLst/>
            <a:cxnLst/>
            <a:rect l="l" t="t" r="r" b="b"/>
            <a:pathLst>
              <a:path w="8046720" h="18288">
                <a:moveTo>
                  <a:pt x="0" y="0"/>
                </a:moveTo>
                <a:lnTo>
                  <a:pt x="8046720" y="0"/>
                </a:lnTo>
                <a:lnTo>
                  <a:pt x="8046720" y="18288"/>
                </a:lnTo>
                <a:lnTo>
                  <a:pt x="0" y="18288"/>
                </a:lnTo>
                <a:close/>
              </a:path>
            </a:pathLst>
          </a:custGeom>
          <a:solidFill>
            <a:srgbClr val="3498DB"/>
          </a:solidFill>
          <a:ln/>
        </p:spPr>
      </p:sp>
      <p:sp>
        <p:nvSpPr>
          <p:cNvPr id="5" name="Shape 2"/>
          <p:cNvSpPr/>
          <p:nvPr/>
        </p:nvSpPr>
        <p:spPr>
          <a:xfrm>
            <a:off x="548640" y="1645920"/>
            <a:ext cx="8046720" cy="731520"/>
          </a:xfrm>
          <a:custGeom>
            <a:avLst/>
            <a:gdLst/>
            <a:ahLst/>
            <a:cxnLst/>
            <a:rect l="l" t="t" r="r" b="b"/>
            <a:pathLst>
              <a:path w="8046720" h="731520">
                <a:moveTo>
                  <a:pt x="0" y="0"/>
                </a:moveTo>
                <a:lnTo>
                  <a:pt x="8046720" y="0"/>
                </a:lnTo>
                <a:lnTo>
                  <a:pt x="8046720" y="731520"/>
                </a:lnTo>
                <a:lnTo>
                  <a:pt x="0" y="731520"/>
                </a:lnTo>
                <a:close/>
              </a:path>
            </a:pathLst>
          </a:custGeom>
          <a:solidFill>
            <a:srgbClr val="E8F4FD"/>
          </a:solidFill>
          <a:ln/>
        </p:spPr>
      </p:sp>
      <p:sp>
        <p:nvSpPr>
          <p:cNvPr id="6" name="Text 3"/>
          <p:cNvSpPr/>
          <p:nvPr/>
        </p:nvSpPr>
        <p:spPr>
          <a:xfrm>
            <a:off x="731520" y="1847088"/>
            <a:ext cx="7680960" cy="32918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2C3E50"/>
                </a:solidFill>
                <a:latin typeface="Microsoft YaHei" pitchFamily="34" charset="0"/>
                <a:ea typeface="Microsoft YaHei" pitchFamily="34" charset="-122"/>
                <a:cs typeface="Microsoft YaHei" pitchFamily="34" charset="-120"/>
              </a:rPr>
              <a:t>产品定位：</a:t>
            </a:r>
            <a:pPr indent="0" marL="0">
              <a:lnSpc>
                <a:spcPct val="120000"/>
              </a:lnSpc>
              <a:spcBef>
                <a:spcPts val="360"/>
              </a:spcBef>
              <a:buNone/>
            </a:pPr>
            <a:r>
              <a:rPr lang="en-US" sz="1296" dirty="0">
                <a:solidFill>
                  <a:srgbClr val="2C3E50"/>
                </a:solidFill>
                <a:latin typeface="Microsoft YaHei" pitchFamily="34" charset="0"/>
                <a:ea typeface="Microsoft YaHei" pitchFamily="34" charset="-122"/>
                <a:cs typeface="Microsoft YaHei" pitchFamily="34" charset="-120"/>
              </a:rPr>
              <a:t>跨平台、本地优先、AI 增强型 RSS 阅读器</a:t>
            </a:r>
            <a:endParaRPr lang="en-US" sz="1152" dirty="0"/>
          </a:p>
        </p:txBody>
      </p:sp>
      <p:sp>
        <p:nvSpPr>
          <p:cNvPr id="7" name="Shape 4"/>
          <p:cNvSpPr/>
          <p:nvPr/>
        </p:nvSpPr>
        <p:spPr>
          <a:xfrm>
            <a:off x="548640" y="2514600"/>
            <a:ext cx="8046720" cy="731520"/>
          </a:xfrm>
          <a:custGeom>
            <a:avLst/>
            <a:gdLst/>
            <a:ahLst/>
            <a:cxnLst/>
            <a:rect l="l" t="t" r="r" b="b"/>
            <a:pathLst>
              <a:path w="8046720" h="731520">
                <a:moveTo>
                  <a:pt x="0" y="0"/>
                </a:moveTo>
                <a:lnTo>
                  <a:pt x="8046720" y="0"/>
                </a:lnTo>
                <a:lnTo>
                  <a:pt x="8046720" y="731520"/>
                </a:lnTo>
                <a:lnTo>
                  <a:pt x="0" y="731520"/>
                </a:lnTo>
                <a:close/>
              </a:path>
            </a:pathLst>
          </a:custGeom>
          <a:solidFill>
            <a:srgbClr val="FFF4E6"/>
          </a:solidFill>
          <a:ln/>
        </p:spPr>
      </p:sp>
      <p:sp>
        <p:nvSpPr>
          <p:cNvPr id="8" name="Text 5"/>
          <p:cNvSpPr/>
          <p:nvPr/>
        </p:nvSpPr>
        <p:spPr>
          <a:xfrm>
            <a:off x="731520" y="2715768"/>
            <a:ext cx="7680960" cy="32918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2C3E50"/>
                </a:solidFill>
                <a:latin typeface="Microsoft YaHei" pitchFamily="34" charset="0"/>
                <a:ea typeface="Microsoft YaHei" pitchFamily="34" charset="-122"/>
                <a:cs typeface="Microsoft YaHei" pitchFamily="34" charset="-120"/>
              </a:rPr>
              <a:t>核心目标：</a:t>
            </a:r>
            <a:pPr indent="0" marL="0">
              <a:lnSpc>
                <a:spcPct val="120000"/>
              </a:lnSpc>
              <a:spcBef>
                <a:spcPts val="360"/>
              </a:spcBef>
              <a:buNone/>
            </a:pPr>
            <a:r>
              <a:rPr lang="en-US" sz="1296" dirty="0">
                <a:solidFill>
                  <a:srgbClr val="2C3E50"/>
                </a:solidFill>
                <a:latin typeface="Microsoft YaHei" pitchFamily="34" charset="0"/>
                <a:ea typeface="Microsoft YaHei" pitchFamily="34" charset="-122"/>
                <a:cs typeface="Microsoft YaHei" pitchFamily="34" charset="-120"/>
              </a:rPr>
              <a:t>完成「订阅 → 获取 → 清洗 → 阅读 → 总结 → 翻译 → 标签 → 导出」完整主链路 MVP</a:t>
            </a:r>
            <a:endParaRPr lang="en-US" sz="1152" dirty="0"/>
          </a:p>
        </p:txBody>
      </p:sp>
      <p:sp>
        <p:nvSpPr>
          <p:cNvPr id="9" name="Shape 6"/>
          <p:cNvSpPr/>
          <p:nvPr/>
        </p:nvSpPr>
        <p:spPr>
          <a:xfrm>
            <a:off x="548640" y="3383280"/>
            <a:ext cx="3931920" cy="731520"/>
          </a:xfrm>
          <a:custGeom>
            <a:avLst/>
            <a:gdLst/>
            <a:ahLst/>
            <a:cxnLst/>
            <a:rect l="l" t="t" r="r" b="b"/>
            <a:pathLst>
              <a:path w="3931920" h="731520">
                <a:moveTo>
                  <a:pt x="0" y="0"/>
                </a:moveTo>
                <a:lnTo>
                  <a:pt x="3931920" y="0"/>
                </a:lnTo>
                <a:lnTo>
                  <a:pt x="3931920" y="731520"/>
                </a:lnTo>
                <a:lnTo>
                  <a:pt x="0" y="731520"/>
                </a:lnTo>
                <a:close/>
              </a:path>
            </a:pathLst>
          </a:custGeom>
          <a:solidFill>
            <a:srgbClr val="E8F5E9"/>
          </a:solidFill>
          <a:ln/>
        </p:spPr>
      </p:sp>
      <p:sp>
        <p:nvSpPr>
          <p:cNvPr id="10" name="Text 7"/>
          <p:cNvSpPr/>
          <p:nvPr/>
        </p:nvSpPr>
        <p:spPr>
          <a:xfrm>
            <a:off x="731520" y="3584448"/>
            <a:ext cx="3566160" cy="32918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2C3E50"/>
                </a:solidFill>
                <a:latin typeface="Microsoft YaHei" pitchFamily="34" charset="0"/>
                <a:ea typeface="Microsoft YaHei" pitchFamily="34" charset="-122"/>
                <a:cs typeface="Microsoft YaHei" pitchFamily="34" charset="-120"/>
              </a:rPr>
              <a:t>团队规模：</a:t>
            </a:r>
            <a:pPr indent="0" marL="0">
              <a:lnSpc>
                <a:spcPct val="120000"/>
              </a:lnSpc>
              <a:spcBef>
                <a:spcPts val="360"/>
              </a:spcBef>
              <a:buNone/>
            </a:pPr>
            <a:r>
              <a:rPr lang="en-US" sz="1296" dirty="0">
                <a:solidFill>
                  <a:srgbClr val="2C3E50"/>
                </a:solidFill>
                <a:latin typeface="Microsoft YaHei" pitchFamily="34" charset="0"/>
                <a:ea typeface="Microsoft YaHei" pitchFamily="34" charset="-122"/>
                <a:cs typeface="Microsoft YaHei" pitchFamily="34" charset="-120"/>
              </a:rPr>
              <a:t>8 人，分 4 组并行开发</a:t>
            </a:r>
            <a:endParaRPr lang="en-US" sz="1152" dirty="0"/>
          </a:p>
        </p:txBody>
      </p:sp>
      <p:sp>
        <p:nvSpPr>
          <p:cNvPr id="11" name="Shape 8"/>
          <p:cNvSpPr/>
          <p:nvPr/>
        </p:nvSpPr>
        <p:spPr>
          <a:xfrm>
            <a:off x="4663440" y="3383280"/>
            <a:ext cx="3931920" cy="731520"/>
          </a:xfrm>
          <a:custGeom>
            <a:avLst/>
            <a:gdLst/>
            <a:ahLst/>
            <a:cxnLst/>
            <a:rect l="l" t="t" r="r" b="b"/>
            <a:pathLst>
              <a:path w="3931920" h="731520">
                <a:moveTo>
                  <a:pt x="0" y="0"/>
                </a:moveTo>
                <a:lnTo>
                  <a:pt x="3931920" y="0"/>
                </a:lnTo>
                <a:lnTo>
                  <a:pt x="3931920" y="731520"/>
                </a:lnTo>
                <a:lnTo>
                  <a:pt x="0" y="731520"/>
                </a:lnTo>
                <a:close/>
              </a:path>
            </a:pathLst>
          </a:custGeom>
          <a:solidFill>
            <a:srgbClr val="FCE4EC"/>
          </a:solidFill>
          <a:ln/>
        </p:spPr>
      </p:sp>
      <p:sp>
        <p:nvSpPr>
          <p:cNvPr id="12" name="Text 9"/>
          <p:cNvSpPr/>
          <p:nvPr/>
        </p:nvSpPr>
        <p:spPr>
          <a:xfrm>
            <a:off x="4846320" y="3584448"/>
            <a:ext cx="3566160" cy="32918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2C3E50"/>
                </a:solidFill>
                <a:latin typeface="Microsoft YaHei" pitchFamily="34" charset="0"/>
                <a:ea typeface="Microsoft YaHei" pitchFamily="34" charset="-122"/>
                <a:cs typeface="Microsoft YaHei" pitchFamily="34" charset="-120"/>
              </a:rPr>
              <a:t>开发周期：</a:t>
            </a:r>
            <a:pPr indent="0" marL="0">
              <a:lnSpc>
                <a:spcPct val="120000"/>
              </a:lnSpc>
              <a:spcBef>
                <a:spcPts val="360"/>
              </a:spcBef>
              <a:buNone/>
            </a:pPr>
            <a:r>
              <a:rPr lang="en-US" sz="1296" dirty="0">
                <a:solidFill>
                  <a:srgbClr val="2C3E50"/>
                </a:solidFill>
                <a:latin typeface="Microsoft YaHei" pitchFamily="34" charset="0"/>
                <a:ea typeface="Microsoft YaHei" pitchFamily="34" charset="-122"/>
                <a:cs typeface="Microsoft YaHei" pitchFamily="34" charset="-120"/>
              </a:rPr>
              <a:t>5 周（05/18 ~ 06/21）</a:t>
            </a:r>
            <a:endParaRPr lang="en-US" sz="115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
    <p:bg>
      <p:bgPr>
        <a:solidFill>
          <a:srgbClr val="1A1A2E"/>
        </a:solidFill>
      </p:bgPr>
    </p:bg>
    <p:spTree>
      <p:nvGrpSpPr>
        <p:cNvPr id="1" name=""/>
        <p:cNvGrpSpPr/>
        <p:nvPr/>
      </p:nvGrpSpPr>
      <p:grpSpPr>
        <a:xfrm>
          <a:off x="0" y="0"/>
          <a:ext cx="0" cy="0"/>
          <a:chOff x="0" y="0"/>
          <a:chExt cx="0" cy="0"/>
        </a:xfrm>
      </p:grpSpPr>
      <p:sp>
        <p:nvSpPr>
          <p:cNvPr id="3" name="Shape 0"/>
          <p:cNvSpPr/>
          <p:nvPr/>
        </p:nvSpPr>
        <p:spPr>
          <a:xfrm>
            <a:off x="0" y="0"/>
            <a:ext cx="9144000" cy="731520"/>
          </a:xfrm>
          <a:custGeom>
            <a:avLst/>
            <a:gdLst/>
            <a:ahLst/>
            <a:cxnLst/>
            <a:rect l="l" t="t" r="r" b="b"/>
            <a:pathLst>
              <a:path w="9144000" h="731520">
                <a:moveTo>
                  <a:pt x="0" y="0"/>
                </a:moveTo>
                <a:lnTo>
                  <a:pt x="9144000" y="0"/>
                </a:lnTo>
                <a:lnTo>
                  <a:pt x="9144000" y="731520"/>
                </a:lnTo>
                <a:lnTo>
                  <a:pt x="0" y="731520"/>
                </a:lnTo>
                <a:close/>
              </a:path>
            </a:pathLst>
          </a:custGeom>
          <a:solidFill>
            <a:srgbClr val="16213E"/>
          </a:solidFill>
          <a:ln/>
        </p:spPr>
      </p:sp>
      <p:sp>
        <p:nvSpPr>
          <p:cNvPr id="4" name="Text 1"/>
          <p:cNvSpPr/>
          <p:nvPr/>
        </p:nvSpPr>
        <p:spPr>
          <a:xfrm>
            <a:off x="548640" y="128016"/>
            <a:ext cx="548640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016" b="1" dirty="0">
                <a:solidFill>
                  <a:srgbClr val="E2E8F0"/>
                </a:solidFill>
                <a:latin typeface="Microsoft YaHei" pitchFamily="34" charset="0"/>
                <a:ea typeface="Microsoft YaHei" pitchFamily="34" charset="-122"/>
                <a:cs typeface="Microsoft YaHei" pitchFamily="34" charset="-120"/>
              </a:rPr>
              <a:t>技术栈选型</a:t>
            </a:r>
            <a:endParaRPr lang="en-US" sz="1152" dirty="0"/>
          </a:p>
        </p:txBody>
      </p:sp>
      <p:sp>
        <p:nvSpPr>
          <p:cNvPr id="5" name="Text 2"/>
          <p:cNvSpPr/>
          <p:nvPr/>
        </p:nvSpPr>
        <p:spPr>
          <a:xfrm>
            <a:off x="6035040" y="182880"/>
            <a:ext cx="2560320" cy="393192"/>
          </a:xfrm>
          <a:prstGeom prst="rect">
            <a:avLst/>
          </a:prstGeom>
          <a:noFill/>
          <a:ln/>
        </p:spPr>
        <p:txBody>
          <a:bodyPr wrap="square" lIns="91440" tIns="91440" rIns="91440" bIns="91440" rtlCol="0" anchor="t">
            <a:spAutoFit/>
          </a:bodyPr>
          <a:lstStyle/>
          <a:p>
            <a:pPr algn="r" indent="0" marL="0">
              <a:lnSpc>
                <a:spcPct val="120000"/>
              </a:lnSpc>
              <a:spcBef>
                <a:spcPts val="360"/>
              </a:spcBef>
              <a:buNone/>
            </a:pPr>
            <a:r>
              <a:rPr lang="en-US" sz="1008" dirty="0">
                <a:solidFill>
                  <a:srgbClr val="64748B"/>
                </a:solidFill>
                <a:latin typeface="Microsoft YaHei" pitchFamily="34" charset="0"/>
                <a:ea typeface="Microsoft YaHei" pitchFamily="34" charset="-122"/>
                <a:cs typeface="Microsoft YaHei" pitchFamily="34" charset="-120"/>
              </a:rPr>
              <a:t>Technology Stack Overview</a:t>
            </a:r>
            <a:endParaRPr lang="en-US" sz="1152" dirty="0"/>
          </a:p>
        </p:txBody>
      </p:sp>
      <p:sp>
        <p:nvSpPr>
          <p:cNvPr id="6" name="Shape 3"/>
          <p:cNvSpPr/>
          <p:nvPr/>
        </p:nvSpPr>
        <p:spPr>
          <a:xfrm>
            <a:off x="548640" y="713232"/>
            <a:ext cx="8046720" cy="18288"/>
          </a:xfrm>
          <a:custGeom>
            <a:avLst/>
            <a:gdLst/>
            <a:ahLst/>
            <a:cxnLst/>
            <a:rect l="l" t="t" r="r" b="b"/>
            <a:pathLst>
              <a:path w="8046720" h="18288">
                <a:moveTo>
                  <a:pt x="0" y="0"/>
                </a:moveTo>
                <a:lnTo>
                  <a:pt x="8046720" y="0"/>
                </a:lnTo>
                <a:lnTo>
                  <a:pt x="8046720" y="18288"/>
                </a:lnTo>
                <a:lnTo>
                  <a:pt x="0" y="18288"/>
                </a:lnTo>
                <a:close/>
              </a:path>
            </a:pathLst>
          </a:custGeom>
          <a:solidFill>
            <a:srgbClr val="3B82F6"/>
          </a:solidFill>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8046720" cy="3749040"/>
        </p:xfrm>
        <a:graphic>
          <a:graphicData uri="http://schemas.openxmlformats.org/drawingml/2006/table">
            <a:tbl>
              <a:tblPr/>
              <a:tblGrid>
                <a:gridCol w="1448410"/>
                <a:gridCol w="2414016"/>
                <a:gridCol w="4184294"/>
              </a:tblGrid>
              <a:tr h="374904">
                <a:tc>
                  <a:txBody>
                    <a:bodyPr/>
                    <a:lstStyle/>
                    <a:p>
                      <a:pPr algn="ctr" indent="0" marL="0">
                        <a:buNone/>
                      </a:pPr>
                      <a:r>
                        <a:rPr lang="en-US" sz="1008" b="1" u="none" dirty="0">
                          <a:solidFill>
                            <a:srgbClr val="FFFFFF"/>
                          </a:solidFill>
                          <a:latin typeface="Microsoft YaHei" pitchFamily="34" charset="0"/>
                          <a:ea typeface="Microsoft YaHei" pitchFamily="34" charset="-122"/>
                          <a:cs typeface="Microsoft YaHei" pitchFamily="34" charset="-120"/>
                        </a:rPr>
                        <a:t>层级</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2563EB"/>
                    </a:solidFill>
                  </a:tcPr>
                </a:tc>
                <a:tc>
                  <a:txBody>
                    <a:bodyPr/>
                    <a:lstStyle/>
                    <a:p>
                      <a:pPr algn="ctr" indent="0" marL="0">
                        <a:buNone/>
                      </a:pPr>
                      <a:r>
                        <a:rPr lang="en-US" sz="1008" b="1" u="none" dirty="0">
                          <a:solidFill>
                            <a:srgbClr val="FFFFFF"/>
                          </a:solidFill>
                          <a:latin typeface="Microsoft YaHei" pitchFamily="34" charset="0"/>
                          <a:ea typeface="Microsoft YaHei" pitchFamily="34" charset="-122"/>
                          <a:cs typeface="Microsoft YaHei" pitchFamily="34" charset="-120"/>
                        </a:rPr>
                        <a:t>技术方案</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2563EB"/>
                    </a:solidFill>
                  </a:tcPr>
                </a:tc>
                <a:tc>
                  <a:txBody>
                    <a:bodyPr/>
                    <a:lstStyle/>
                    <a:p>
                      <a:pPr algn="ctr" indent="0" marL="0">
                        <a:buNone/>
                      </a:pPr>
                      <a:r>
                        <a:rPr lang="en-US" sz="1008" b="1" u="none" dirty="0">
                          <a:solidFill>
                            <a:srgbClr val="FFFFFF"/>
                          </a:solidFill>
                          <a:latin typeface="Microsoft YaHei" pitchFamily="34" charset="0"/>
                          <a:ea typeface="Microsoft YaHei" pitchFamily="34" charset="-122"/>
                          <a:cs typeface="Microsoft YaHei" pitchFamily="34" charset="-120"/>
                        </a:rPr>
                        <a:t>选型理由</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2563EB"/>
                    </a:solidFill>
                  </a:tcPr>
                </a:tc>
              </a:tr>
              <a:tr h="374904">
                <a:tc>
                  <a:txBody>
                    <a:bodyPr/>
                    <a:lstStyle/>
                    <a:p>
                      <a:pPr algn="ctr" indent="0" marL="0">
                        <a:buNone/>
                      </a:pPr>
                      <a:r>
                        <a:rPr lang="en-US" sz="936" b="1" u="none" dirty="0">
                          <a:solidFill>
                            <a:srgbClr val="93C5FD"/>
                          </a:solidFill>
                          <a:latin typeface="Microsoft YaHei" pitchFamily="34" charset="0"/>
                          <a:ea typeface="Microsoft YaHei" pitchFamily="34" charset="-122"/>
                          <a:cs typeface="Microsoft YaHei" pitchFamily="34" charset="-120"/>
                        </a:rPr>
                        <a:t>桌面框架</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936" u="none" dirty="0">
                          <a:solidFill>
                            <a:srgbClr val="E2E8F0"/>
                          </a:solidFill>
                          <a:latin typeface="Microsoft YaHei" pitchFamily="34" charset="0"/>
                          <a:ea typeface="Microsoft YaHei" pitchFamily="34" charset="-122"/>
                          <a:cs typeface="Microsoft YaHei" pitchFamily="34" charset="-120"/>
                        </a:rPr>
                        <a:t>Electron</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864" u="none" dirty="0">
                          <a:solidFill>
                            <a:srgbClr val="CBD5E1"/>
                          </a:solidFill>
                          <a:latin typeface="Microsoft YaHei" pitchFamily="34" charset="0"/>
                          <a:ea typeface="Microsoft YaHei" pitchFamily="34" charset="-122"/>
                          <a:cs typeface="Microsoft YaHei" pitchFamily="34" charset="-120"/>
                        </a:rPr>
                        <a:t>跨平台、Web技术复用、生态成熟</a:t>
                      </a:r>
                      <a:endParaRPr lang="en-US" sz="864"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1E293B"/>
                    </a:solidFill>
                  </a:tcPr>
                </a:tc>
              </a:tr>
              <a:tr h="374904">
                <a:tc>
                  <a:txBody>
                    <a:bodyPr/>
                    <a:lstStyle/>
                    <a:p>
                      <a:pPr algn="ctr" indent="0" marL="0">
                        <a:buNone/>
                      </a:pPr>
                      <a:r>
                        <a:rPr lang="en-US" sz="936" b="1" u="none" dirty="0">
                          <a:solidFill>
                            <a:srgbClr val="93C5FD"/>
                          </a:solidFill>
                          <a:latin typeface="Microsoft YaHei" pitchFamily="34" charset="0"/>
                          <a:ea typeface="Microsoft YaHei" pitchFamily="34" charset="-122"/>
                          <a:cs typeface="Microsoft YaHei" pitchFamily="34" charset="-120"/>
                        </a:rPr>
                        <a:t>前端框架</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0F172A"/>
                    </a:solidFill>
                  </a:tcPr>
                </a:tc>
                <a:tc>
                  <a:txBody>
                    <a:bodyPr/>
                    <a:lstStyle/>
                    <a:p>
                      <a:pPr algn="ctr" indent="0" marL="0">
                        <a:buNone/>
                      </a:pPr>
                      <a:r>
                        <a:rPr lang="en-US" sz="936" u="none" dirty="0">
                          <a:solidFill>
                            <a:srgbClr val="E2E8F0"/>
                          </a:solidFill>
                          <a:latin typeface="Microsoft YaHei" pitchFamily="34" charset="0"/>
                          <a:ea typeface="Microsoft YaHei" pitchFamily="34" charset="-122"/>
                          <a:cs typeface="Microsoft YaHei" pitchFamily="34" charset="-120"/>
                        </a:rPr>
                        <a:t>Vue3 + TypeScript</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0F172A"/>
                    </a:solidFill>
                  </a:tcPr>
                </a:tc>
                <a:tc>
                  <a:txBody>
                    <a:bodyPr/>
                    <a:lstStyle/>
                    <a:p>
                      <a:pPr algn="l" indent="0" marL="0">
                        <a:buNone/>
                      </a:pPr>
                      <a:r>
                        <a:rPr lang="en-US" sz="864" u="none" dirty="0">
                          <a:solidFill>
                            <a:srgbClr val="CBD5E1"/>
                          </a:solidFill>
                          <a:latin typeface="Microsoft YaHei" pitchFamily="34" charset="0"/>
                          <a:ea typeface="Microsoft YaHei" pitchFamily="34" charset="-122"/>
                          <a:cs typeface="Microsoft YaHei" pitchFamily="34" charset="-120"/>
                        </a:rPr>
                        <a:t>组合式API、类型安全、响应式性能优异</a:t>
                      </a:r>
                      <a:endParaRPr lang="en-US" sz="864"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0F172A"/>
                    </a:solidFill>
                  </a:tcPr>
                </a:tc>
              </a:tr>
              <a:tr h="374904">
                <a:tc>
                  <a:txBody>
                    <a:bodyPr/>
                    <a:lstStyle/>
                    <a:p>
                      <a:pPr algn="ctr" indent="0" marL="0">
                        <a:buNone/>
                      </a:pPr>
                      <a:r>
                        <a:rPr lang="en-US" sz="936" b="1" u="none" dirty="0">
                          <a:solidFill>
                            <a:srgbClr val="93C5FD"/>
                          </a:solidFill>
                          <a:latin typeface="Microsoft YaHei" pitchFamily="34" charset="0"/>
                          <a:ea typeface="Microsoft YaHei" pitchFamily="34" charset="-122"/>
                          <a:cs typeface="Microsoft YaHei" pitchFamily="34" charset="-120"/>
                        </a:rPr>
                        <a:t>构建工具</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936" u="none" dirty="0">
                          <a:solidFill>
                            <a:srgbClr val="E2E8F0"/>
                          </a:solidFill>
                          <a:latin typeface="Microsoft YaHei" pitchFamily="34" charset="0"/>
                          <a:ea typeface="Microsoft YaHei" pitchFamily="34" charset="-122"/>
                          <a:cs typeface="Microsoft YaHei" pitchFamily="34" charset="-120"/>
                        </a:rPr>
                        <a:t>Vite</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864" u="none" dirty="0">
                          <a:solidFill>
                            <a:srgbClr val="CBD5E1"/>
                          </a:solidFill>
                          <a:latin typeface="Microsoft YaHei" pitchFamily="34" charset="0"/>
                          <a:ea typeface="Microsoft YaHei" pitchFamily="34" charset="-122"/>
                          <a:cs typeface="Microsoft YaHei" pitchFamily="34" charset="-120"/>
                        </a:rPr>
                        <a:t>极速HMR、原生ESM、开箱即用</a:t>
                      </a:r>
                      <a:endParaRPr lang="en-US" sz="864"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1E293B"/>
                    </a:solidFill>
                  </a:tcPr>
                </a:tc>
              </a:tr>
              <a:tr h="374904">
                <a:tc>
                  <a:txBody>
                    <a:bodyPr/>
                    <a:lstStyle/>
                    <a:p>
                      <a:pPr algn="ctr" indent="0" marL="0">
                        <a:buNone/>
                      </a:pPr>
                      <a:r>
                        <a:rPr lang="en-US" sz="936" b="1" u="none" dirty="0">
                          <a:solidFill>
                            <a:srgbClr val="93C5FD"/>
                          </a:solidFill>
                          <a:latin typeface="Microsoft YaHei" pitchFamily="34" charset="0"/>
                          <a:ea typeface="Microsoft YaHei" pitchFamily="34" charset="-122"/>
                          <a:cs typeface="Microsoft YaHei" pitchFamily="34" charset="-120"/>
                        </a:rPr>
                        <a:t>本地数据库</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0F172A"/>
                    </a:solidFill>
                  </a:tcPr>
                </a:tc>
                <a:tc>
                  <a:txBody>
                    <a:bodyPr/>
                    <a:lstStyle/>
                    <a:p>
                      <a:pPr algn="ctr" indent="0" marL="0">
                        <a:buNone/>
                      </a:pPr>
                      <a:r>
                        <a:rPr lang="en-US" sz="936" u="none" dirty="0">
                          <a:solidFill>
                            <a:srgbClr val="E2E8F0"/>
                          </a:solidFill>
                          <a:latin typeface="Microsoft YaHei" pitchFamily="34" charset="0"/>
                          <a:ea typeface="Microsoft YaHei" pitchFamily="34" charset="-122"/>
                          <a:cs typeface="Microsoft YaHei" pitchFamily="34" charset="-120"/>
                        </a:rPr>
                        <a:t>SQLite (better-sqlite3)</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0F172A"/>
                    </a:solidFill>
                  </a:tcPr>
                </a:tc>
                <a:tc>
                  <a:txBody>
                    <a:bodyPr/>
                    <a:lstStyle/>
                    <a:p>
                      <a:pPr algn="l" indent="0" marL="0">
                        <a:buNone/>
                      </a:pPr>
                      <a:r>
                        <a:rPr lang="en-US" sz="864" u="none" dirty="0">
                          <a:solidFill>
                            <a:srgbClr val="CBD5E1"/>
                          </a:solidFill>
                          <a:latin typeface="Microsoft YaHei" pitchFamily="34" charset="0"/>
                          <a:ea typeface="Microsoft YaHei" pitchFamily="34" charset="-122"/>
                          <a:cs typeface="Microsoft YaHei" pitchFamily="34" charset="-120"/>
                        </a:rPr>
                        <a:t>本地优先、零部署、同步读写性能高</a:t>
                      </a:r>
                      <a:endParaRPr lang="en-US" sz="864"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0F172A"/>
                    </a:solidFill>
                  </a:tcPr>
                </a:tc>
              </a:tr>
              <a:tr h="374904">
                <a:tc>
                  <a:txBody>
                    <a:bodyPr/>
                    <a:lstStyle/>
                    <a:p>
                      <a:pPr algn="ctr" indent="0" marL="0">
                        <a:buNone/>
                      </a:pPr>
                      <a:r>
                        <a:rPr lang="en-US" sz="936" b="1" u="none" dirty="0">
                          <a:solidFill>
                            <a:srgbClr val="93C5FD"/>
                          </a:solidFill>
                          <a:latin typeface="Microsoft YaHei" pitchFamily="34" charset="0"/>
                          <a:ea typeface="Microsoft YaHei" pitchFamily="34" charset="-122"/>
                          <a:cs typeface="Microsoft YaHei" pitchFamily="34" charset="-120"/>
                        </a:rPr>
                        <a:t>Feed 解析</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936" u="none" dirty="0">
                          <a:solidFill>
                            <a:srgbClr val="E2E8F0"/>
                          </a:solidFill>
                          <a:latin typeface="Microsoft YaHei" pitchFamily="34" charset="0"/>
                          <a:ea typeface="Microsoft YaHei" pitchFamily="34" charset="-122"/>
                          <a:cs typeface="Microsoft YaHei" pitchFamily="34" charset="-120"/>
                        </a:rPr>
                        <a:t>rss-parser</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864" u="none" dirty="0">
                          <a:solidFill>
                            <a:srgbClr val="CBD5E1"/>
                          </a:solidFill>
                          <a:latin typeface="Microsoft YaHei" pitchFamily="34" charset="0"/>
                          <a:ea typeface="Microsoft YaHei" pitchFamily="34" charset="-122"/>
                          <a:cs typeface="Microsoft YaHei" pitchFamily="34" charset="-120"/>
                        </a:rPr>
                        <a:t>轻量、支持RSS/Atom、社区活跃</a:t>
                      </a:r>
                      <a:endParaRPr lang="en-US" sz="864"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1E293B"/>
                    </a:solidFill>
                  </a:tcPr>
                </a:tc>
              </a:tr>
              <a:tr h="374904">
                <a:tc>
                  <a:txBody>
                    <a:bodyPr/>
                    <a:lstStyle/>
                    <a:p>
                      <a:pPr algn="ctr" indent="0" marL="0">
                        <a:buNone/>
                      </a:pPr>
                      <a:r>
                        <a:rPr lang="en-US" sz="936" b="1" u="none" dirty="0">
                          <a:solidFill>
                            <a:srgbClr val="93C5FD"/>
                          </a:solidFill>
                          <a:latin typeface="Microsoft YaHei" pitchFamily="34" charset="0"/>
                          <a:ea typeface="Microsoft YaHei" pitchFamily="34" charset="-122"/>
                          <a:cs typeface="Microsoft YaHei" pitchFamily="34" charset="-120"/>
                        </a:rPr>
                        <a:t>内容清洗</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0F172A"/>
                    </a:solidFill>
                  </a:tcPr>
                </a:tc>
                <a:tc>
                  <a:txBody>
                    <a:bodyPr/>
                    <a:lstStyle/>
                    <a:p>
                      <a:pPr algn="ctr" indent="0" marL="0">
                        <a:buNone/>
                      </a:pPr>
                      <a:r>
                        <a:rPr lang="en-US" sz="936" u="none" dirty="0">
                          <a:solidFill>
                            <a:srgbClr val="E2E8F0"/>
                          </a:solidFill>
                          <a:latin typeface="Microsoft YaHei" pitchFamily="34" charset="0"/>
                          <a:ea typeface="Microsoft YaHei" pitchFamily="34" charset="-122"/>
                          <a:cs typeface="Microsoft YaHei" pitchFamily="34" charset="-120"/>
                        </a:rPr>
                        <a:t>readability + turndown</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0F172A"/>
                    </a:solidFill>
                  </a:tcPr>
                </a:tc>
                <a:tc>
                  <a:txBody>
                    <a:bodyPr/>
                    <a:lstStyle/>
                    <a:p>
                      <a:pPr algn="l" indent="0" marL="0">
                        <a:buNone/>
                      </a:pPr>
                      <a:r>
                        <a:rPr lang="en-US" sz="864" u="none" dirty="0">
                          <a:solidFill>
                            <a:srgbClr val="CBD5E1"/>
                          </a:solidFill>
                          <a:latin typeface="Microsoft YaHei" pitchFamily="34" charset="0"/>
                          <a:ea typeface="Microsoft YaHei" pitchFamily="34" charset="-122"/>
                          <a:cs typeface="Microsoft YaHei" pitchFamily="34" charset="-120"/>
                        </a:rPr>
                        <a:t>Mozilla级正文提取 → HTML转Markdown</a:t>
                      </a:r>
                      <a:endParaRPr lang="en-US" sz="864"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0F172A"/>
                    </a:solidFill>
                  </a:tcPr>
                </a:tc>
              </a:tr>
              <a:tr h="374904">
                <a:tc>
                  <a:txBody>
                    <a:bodyPr/>
                    <a:lstStyle/>
                    <a:p>
                      <a:pPr algn="ctr" indent="0" marL="0">
                        <a:buNone/>
                      </a:pPr>
                      <a:r>
                        <a:rPr lang="en-US" sz="936" b="1" u="none" dirty="0">
                          <a:solidFill>
                            <a:srgbClr val="93C5FD"/>
                          </a:solidFill>
                          <a:latin typeface="Microsoft YaHei" pitchFamily="34" charset="0"/>
                          <a:ea typeface="Microsoft YaHei" pitchFamily="34" charset="-122"/>
                          <a:cs typeface="Microsoft YaHei" pitchFamily="34" charset="-120"/>
                        </a:rPr>
                        <a:t>AI 接入</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936" u="none" dirty="0">
                          <a:solidFill>
                            <a:srgbClr val="E2E8F0"/>
                          </a:solidFill>
                          <a:latin typeface="Microsoft YaHei" pitchFamily="34" charset="0"/>
                          <a:ea typeface="Microsoft YaHei" pitchFamily="34" charset="-122"/>
                          <a:cs typeface="Microsoft YaHei" pitchFamily="34" charset="-120"/>
                        </a:rPr>
                        <a:t>OpenAI SDK</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864" u="none" dirty="0">
                          <a:solidFill>
                            <a:srgbClr val="CBD5E1"/>
                          </a:solidFill>
                          <a:latin typeface="Microsoft YaHei" pitchFamily="34" charset="0"/>
                          <a:ea typeface="Microsoft YaHei" pitchFamily="34" charset="-122"/>
                          <a:cs typeface="Microsoft YaHei" pitchFamily="34" charset="-120"/>
                        </a:rPr>
                        <a:t>兼容多模型、流式调用、标准化接口</a:t>
                      </a:r>
                      <a:endParaRPr lang="en-US" sz="864"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1E293B"/>
                    </a:solidFill>
                  </a:tcPr>
                </a:tc>
              </a:tr>
              <a:tr h="374904">
                <a:tc>
                  <a:txBody>
                    <a:bodyPr/>
                    <a:lstStyle/>
                    <a:p>
                      <a:pPr algn="ctr" indent="0" marL="0">
                        <a:buNone/>
                      </a:pPr>
                      <a:r>
                        <a:rPr lang="en-US" sz="936" b="1" u="none" dirty="0">
                          <a:solidFill>
                            <a:srgbClr val="93C5FD"/>
                          </a:solidFill>
                          <a:latin typeface="Microsoft YaHei" pitchFamily="34" charset="0"/>
                          <a:ea typeface="Microsoft YaHei" pitchFamily="34" charset="-122"/>
                          <a:cs typeface="Microsoft YaHei" pitchFamily="34" charset="-120"/>
                        </a:rPr>
                        <a:t>打包发布</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0F172A"/>
                    </a:solidFill>
                  </a:tcPr>
                </a:tc>
                <a:tc>
                  <a:txBody>
                    <a:bodyPr/>
                    <a:lstStyle/>
                    <a:p>
                      <a:pPr algn="ctr" indent="0" marL="0">
                        <a:buNone/>
                      </a:pPr>
                      <a:r>
                        <a:rPr lang="en-US" sz="936" u="none" dirty="0">
                          <a:solidFill>
                            <a:srgbClr val="E2E8F0"/>
                          </a:solidFill>
                          <a:latin typeface="Microsoft YaHei" pitchFamily="34" charset="0"/>
                          <a:ea typeface="Microsoft YaHei" pitchFamily="34" charset="-122"/>
                          <a:cs typeface="Microsoft YaHei" pitchFamily="34" charset="-120"/>
                        </a:rPr>
                        <a:t>electron-builder</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0F172A"/>
                    </a:solidFill>
                  </a:tcPr>
                </a:tc>
                <a:tc>
                  <a:txBody>
                    <a:bodyPr/>
                    <a:lstStyle/>
                    <a:p>
                      <a:pPr algn="l" indent="0" marL="0">
                        <a:buNone/>
                      </a:pPr>
                      <a:r>
                        <a:rPr lang="en-US" sz="864" u="none" dirty="0">
                          <a:solidFill>
                            <a:srgbClr val="CBD5E1"/>
                          </a:solidFill>
                          <a:latin typeface="Microsoft YaHei" pitchFamily="34" charset="0"/>
                          <a:ea typeface="Microsoft YaHei" pitchFamily="34" charset="-122"/>
                          <a:cs typeface="Microsoft YaHei" pitchFamily="34" charset="-120"/>
                        </a:rPr>
                        <a:t>多平台构建、自动更新、安装包定制</a:t>
                      </a:r>
                      <a:endParaRPr lang="en-US" sz="864"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0F172A"/>
                    </a:solidFill>
                  </a:tcPr>
                </a:tc>
              </a:tr>
              <a:tr h="374904">
                <a:tc>
                  <a:txBody>
                    <a:bodyPr/>
                    <a:lstStyle/>
                    <a:p>
                      <a:pPr algn="ctr" indent="0" marL="0">
                        <a:buNone/>
                      </a:pPr>
                      <a:r>
                        <a:rPr lang="en-US" sz="936" b="1" u="none" dirty="0">
                          <a:solidFill>
                            <a:srgbClr val="93C5FD"/>
                          </a:solidFill>
                          <a:latin typeface="Microsoft YaHei" pitchFamily="34" charset="0"/>
                          <a:ea typeface="Microsoft YaHei" pitchFamily="34" charset="-122"/>
                          <a:cs typeface="Microsoft YaHei" pitchFamily="34" charset="-120"/>
                        </a:rPr>
                        <a:t>测试</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936" u="none" dirty="0">
                          <a:solidFill>
                            <a:srgbClr val="E2E8F0"/>
                          </a:solidFill>
                          <a:latin typeface="Microsoft YaHei" pitchFamily="34" charset="0"/>
                          <a:ea typeface="Microsoft YaHei" pitchFamily="34" charset="-122"/>
                          <a:cs typeface="Microsoft YaHei" pitchFamily="34" charset="-120"/>
                        </a:rPr>
                        <a:t>Vitest + Playwright</a:t>
                      </a:r>
                      <a:endParaRPr lang="en-US" sz="936"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864" u="none" dirty="0">
                          <a:solidFill>
                            <a:srgbClr val="CBD5E1"/>
                          </a:solidFill>
                          <a:latin typeface="Microsoft YaHei" pitchFamily="34" charset="0"/>
                          <a:ea typeface="Microsoft YaHei" pitchFamily="34" charset="-122"/>
                          <a:cs typeface="Microsoft YaHei" pitchFamily="34" charset="-120"/>
                        </a:rPr>
                        <a:t>单元+E2E覆盖、Vite原生集成</a:t>
                      </a:r>
                      <a:endParaRPr lang="en-US" sz="864" dirty="0">
                        <a:latin typeface="Microsoft YaHei" charset="0"/>
                        <a:ea typeface="Microsoft YaHei" charset="0"/>
                        <a:cs typeface="Microsoft YaHei" charset="0"/>
                      </a:endParaRPr>
                    </a:p>
                  </a:txBody>
                  <a:tcPr marL="91440" marR="91440" marT="45720" marB="45720" anchor="ctr">
                    <a:lnL w="9144" cap="flat" cmpd="sng" algn="ctr">
                      <a:solidFill>
                        <a:srgbClr val="334155"/>
                      </a:solidFill>
                      <a:prstDash val="solid"/>
                      <a:round/>
                      <a:headEnd type="none" w="med" len="med"/>
                      <a:tailEnd type="none" w="med" len="med"/>
                    </a:lnL>
                    <a:lnR w="9144" cap="flat" cmpd="sng" algn="ctr">
                      <a:solidFill>
                        <a:srgbClr val="334155"/>
                      </a:solidFill>
                      <a:prstDash val="solid"/>
                      <a:round/>
                      <a:headEnd type="none" w="med" len="med"/>
                      <a:tailEnd type="none" w="med" len="med"/>
                    </a:lnR>
                    <a:lnT w="9144" cap="flat" cmpd="sng" algn="ctr">
                      <a:solidFill>
                        <a:srgbClr val="334155"/>
                      </a:solidFill>
                      <a:prstDash val="solid"/>
                      <a:round/>
                      <a:headEnd type="none" w="med" len="med"/>
                      <a:tailEnd type="none" w="med" len="med"/>
                    </a:lnT>
                    <a:lnB w="9144" cap="flat" cmpd="sng" algn="ctr">
                      <a:solidFill>
                        <a:srgbClr val="334155"/>
                      </a:solidFill>
                      <a:prstDash val="solid"/>
                      <a:round/>
                      <a:headEnd type="none" w="med" len="med"/>
                      <a:tailEnd type="none" w="med" len="med"/>
                    </a:lnB>
                    <a:solidFill>
                      <a:srgbClr val="1E293B"/>
                    </a:solidFill>
                  </a:tcPr>
                </a:tc>
              </a:tr>
            </a:tbl>
          </a:graphicData>
        </a:graphic>
      </p:graphicFrame>
      <p:sp>
        <p:nvSpPr>
          <p:cNvPr id="8" name="Shape 4"/>
          <p:cNvSpPr/>
          <p:nvPr/>
        </p:nvSpPr>
        <p:spPr>
          <a:xfrm>
            <a:off x="548640" y="4736592"/>
            <a:ext cx="914400" cy="256032"/>
          </a:xfrm>
          <a:custGeom>
            <a:avLst/>
            <a:gdLst/>
            <a:ahLst/>
            <a:cxnLst/>
            <a:rect l="l" t="t" r="r" b="b"/>
            <a:pathLst>
              <a:path w="914400" h="256032">
                <a:moveTo>
                  <a:pt x="0" y="0"/>
                </a:moveTo>
                <a:lnTo>
                  <a:pt x="914400" y="0"/>
                </a:lnTo>
                <a:lnTo>
                  <a:pt x="914400" y="256032"/>
                </a:lnTo>
                <a:lnTo>
                  <a:pt x="0" y="256032"/>
                </a:lnTo>
                <a:close/>
              </a:path>
            </a:pathLst>
          </a:custGeom>
          <a:solidFill>
            <a:srgbClr val="1E3A5F"/>
          </a:solidFill>
          <a:ln/>
        </p:spPr>
      </p:sp>
      <p:sp>
        <p:nvSpPr>
          <p:cNvPr id="9" name="Text 5"/>
          <p:cNvSpPr/>
          <p:nvPr/>
        </p:nvSpPr>
        <p:spPr>
          <a:xfrm>
            <a:off x="566928" y="4745736"/>
            <a:ext cx="877824" cy="24688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864" dirty="0">
                <a:solidFill>
                  <a:srgbClr val="60A5FA"/>
                </a:solidFill>
                <a:latin typeface="Microsoft YaHei" pitchFamily="34" charset="0"/>
                <a:ea typeface="Microsoft YaHei" pitchFamily="34" charset="-122"/>
                <a:cs typeface="Microsoft YaHei" pitchFamily="34" charset="-120"/>
              </a:rPr>
              <a:t>本地优先架构</a:t>
            </a:r>
            <a:endParaRPr lang="en-US" sz="1152" dirty="0"/>
          </a:p>
        </p:txBody>
      </p:sp>
      <p:sp>
        <p:nvSpPr>
          <p:cNvPr id="10" name="Shape 6"/>
          <p:cNvSpPr/>
          <p:nvPr/>
        </p:nvSpPr>
        <p:spPr>
          <a:xfrm>
            <a:off x="1600200" y="4736592"/>
            <a:ext cx="914400" cy="256032"/>
          </a:xfrm>
          <a:custGeom>
            <a:avLst/>
            <a:gdLst/>
            <a:ahLst/>
            <a:cxnLst/>
            <a:rect l="l" t="t" r="r" b="b"/>
            <a:pathLst>
              <a:path w="914400" h="256032">
                <a:moveTo>
                  <a:pt x="0" y="0"/>
                </a:moveTo>
                <a:lnTo>
                  <a:pt x="914400" y="0"/>
                </a:lnTo>
                <a:lnTo>
                  <a:pt x="914400" y="256032"/>
                </a:lnTo>
                <a:lnTo>
                  <a:pt x="0" y="256032"/>
                </a:lnTo>
                <a:close/>
              </a:path>
            </a:pathLst>
          </a:custGeom>
          <a:solidFill>
            <a:srgbClr val="1E3A5F"/>
          </a:solidFill>
          <a:ln/>
        </p:spPr>
      </p:sp>
      <p:sp>
        <p:nvSpPr>
          <p:cNvPr id="11" name="Text 7"/>
          <p:cNvSpPr/>
          <p:nvPr/>
        </p:nvSpPr>
        <p:spPr>
          <a:xfrm>
            <a:off x="1618488" y="4745736"/>
            <a:ext cx="877824" cy="24688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864" dirty="0">
                <a:solidFill>
                  <a:srgbClr val="60A5FA"/>
                </a:solidFill>
                <a:latin typeface="Microsoft YaHei" pitchFamily="34" charset="0"/>
                <a:ea typeface="Microsoft YaHei" pitchFamily="34" charset="-122"/>
                <a:cs typeface="Microsoft YaHei" pitchFamily="34" charset="-120"/>
              </a:rPr>
              <a:t>流式AI调用</a:t>
            </a:r>
            <a:endParaRPr lang="en-US" sz="1152" dirty="0"/>
          </a:p>
        </p:txBody>
      </p:sp>
      <p:sp>
        <p:nvSpPr>
          <p:cNvPr id="12" name="Shape 8"/>
          <p:cNvSpPr/>
          <p:nvPr/>
        </p:nvSpPr>
        <p:spPr>
          <a:xfrm>
            <a:off x="2651760" y="4736592"/>
            <a:ext cx="914400" cy="256032"/>
          </a:xfrm>
          <a:custGeom>
            <a:avLst/>
            <a:gdLst/>
            <a:ahLst/>
            <a:cxnLst/>
            <a:rect l="l" t="t" r="r" b="b"/>
            <a:pathLst>
              <a:path w="914400" h="256032">
                <a:moveTo>
                  <a:pt x="0" y="0"/>
                </a:moveTo>
                <a:lnTo>
                  <a:pt x="914400" y="0"/>
                </a:lnTo>
                <a:lnTo>
                  <a:pt x="914400" y="256032"/>
                </a:lnTo>
                <a:lnTo>
                  <a:pt x="0" y="256032"/>
                </a:lnTo>
                <a:close/>
              </a:path>
            </a:pathLst>
          </a:custGeom>
          <a:solidFill>
            <a:srgbClr val="1E3A5F"/>
          </a:solidFill>
          <a:ln/>
        </p:spPr>
      </p:sp>
      <p:sp>
        <p:nvSpPr>
          <p:cNvPr id="13" name="Text 9"/>
          <p:cNvSpPr/>
          <p:nvPr/>
        </p:nvSpPr>
        <p:spPr>
          <a:xfrm>
            <a:off x="2670048" y="4745736"/>
            <a:ext cx="877824" cy="24688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864" dirty="0">
                <a:solidFill>
                  <a:srgbClr val="60A5FA"/>
                </a:solidFill>
                <a:latin typeface="Microsoft YaHei" pitchFamily="34" charset="0"/>
                <a:ea typeface="Microsoft YaHei" pitchFamily="34" charset="-122"/>
                <a:cs typeface="Microsoft YaHei" pitchFamily="34" charset="-120"/>
              </a:rPr>
              <a:t>跨平台</a:t>
            </a:r>
            <a:endParaRPr lang="en-US" sz="115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3">
    <p:bg>
      <p:bgPr>
        <a:solidFill>
          <a:srgbClr val="1A1A2E"/>
        </a:solidFill>
      </p:bgPr>
    </p:bg>
    <p:spTree>
      <p:nvGrpSpPr>
        <p:cNvPr id="1" name=""/>
        <p:cNvGrpSpPr/>
        <p:nvPr/>
      </p:nvGrpSpPr>
      <p:grpSpPr>
        <a:xfrm>
          <a:off x="0" y="0"/>
          <a:ext cx="0" cy="0"/>
          <a:chOff x="0" y="0"/>
          <a:chExt cx="0" cy="0"/>
        </a:xfrm>
      </p:grpSpPr>
      <p:sp>
        <p:nvSpPr>
          <p:cNvPr id="3" name="Shape 0"/>
          <p:cNvSpPr/>
          <p:nvPr/>
        </p:nvSpPr>
        <p:spPr>
          <a:xfrm>
            <a:off x="0" y="0"/>
            <a:ext cx="9144000" cy="822960"/>
          </a:xfrm>
          <a:custGeom>
            <a:avLst/>
            <a:gdLst/>
            <a:ahLst/>
            <a:cxnLst/>
            <a:rect l="l" t="t" r="r" b="b"/>
            <a:pathLst>
              <a:path w="9144000" h="822960">
                <a:moveTo>
                  <a:pt x="0" y="0"/>
                </a:moveTo>
                <a:lnTo>
                  <a:pt x="9144000" y="0"/>
                </a:lnTo>
                <a:lnTo>
                  <a:pt x="9144000" y="822960"/>
                </a:lnTo>
                <a:lnTo>
                  <a:pt x="0" y="822960"/>
                </a:lnTo>
                <a:close/>
              </a:path>
            </a:pathLst>
          </a:custGeom>
          <a:solidFill>
            <a:srgbClr val="16213E"/>
          </a:solidFill>
          <a:ln/>
        </p:spPr>
      </p:sp>
      <p:sp>
        <p:nvSpPr>
          <p:cNvPr id="4" name="Text 1"/>
          <p:cNvSpPr/>
          <p:nvPr/>
        </p:nvSpPr>
        <p:spPr>
          <a:xfrm>
            <a:off x="548640" y="164592"/>
            <a:ext cx="5486400"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E0E0E0"/>
                </a:solidFill>
                <a:latin typeface="Microsoft YaHei" pitchFamily="34" charset="0"/>
                <a:ea typeface="Microsoft YaHei" pitchFamily="34" charset="-122"/>
                <a:cs typeface="Microsoft YaHei" pitchFamily="34" charset="-120"/>
              </a:rPr>
              <a:t>团队分工</a:t>
            </a:r>
            <a:endParaRPr lang="en-US" sz="1152" dirty="0"/>
          </a:p>
        </p:txBody>
      </p:sp>
      <p:sp>
        <p:nvSpPr>
          <p:cNvPr id="5" name="Text 2"/>
          <p:cNvSpPr/>
          <p:nvPr/>
        </p:nvSpPr>
        <p:spPr>
          <a:xfrm>
            <a:off x="548640" y="530352"/>
            <a:ext cx="365760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7F8FA6"/>
                </a:solidFill>
                <a:latin typeface="Microsoft YaHei" pitchFamily="34" charset="0"/>
                <a:ea typeface="Microsoft YaHei" pitchFamily="34" charset="-122"/>
                <a:cs typeface="Microsoft YaHei" pitchFamily="34" charset="-120"/>
              </a:rPr>
              <a:t>模块划分 · 职责明确 · 并行推进</a:t>
            </a:r>
            <a:endParaRPr lang="en-US" sz="1152" dirty="0"/>
          </a:p>
        </p:txBody>
      </p:sp>
      <p:sp>
        <p:nvSpPr>
          <p:cNvPr id="6" name="Shape 3"/>
          <p:cNvSpPr/>
          <p:nvPr/>
        </p:nvSpPr>
        <p:spPr>
          <a:xfrm>
            <a:off x="548640" y="960120"/>
            <a:ext cx="8046720" cy="548640"/>
          </a:xfrm>
          <a:custGeom>
            <a:avLst/>
            <a:gdLst/>
            <a:ahLst/>
            <a:cxnLst/>
            <a:rect l="l" t="t" r="r" b="b"/>
            <a:pathLst>
              <a:path w="8046720" h="548640">
                <a:moveTo>
                  <a:pt x="0" y="0"/>
                </a:moveTo>
                <a:lnTo>
                  <a:pt x="8046720" y="0"/>
                </a:lnTo>
                <a:lnTo>
                  <a:pt x="8046720" y="548640"/>
                </a:lnTo>
                <a:lnTo>
                  <a:pt x="0" y="548640"/>
                </a:lnTo>
                <a:close/>
              </a:path>
            </a:pathLst>
          </a:custGeom>
          <a:solidFill>
            <a:srgbClr val="E74C3C">
              <a:alpha val="15000"/>
            </a:srgbClr>
          </a:solidFill>
          <a:ln/>
        </p:spPr>
      </p:sp>
      <p:sp>
        <p:nvSpPr>
          <p:cNvPr id="7" name="Shape 4"/>
          <p:cNvSpPr/>
          <p:nvPr/>
        </p:nvSpPr>
        <p:spPr>
          <a:xfrm>
            <a:off x="548640" y="960120"/>
            <a:ext cx="45720" cy="548640"/>
          </a:xfrm>
          <a:custGeom>
            <a:avLst/>
            <a:gdLst/>
            <a:ahLst/>
            <a:cxnLst/>
            <a:rect l="l" t="t" r="r" b="b"/>
            <a:pathLst>
              <a:path w="45720" h="548640">
                <a:moveTo>
                  <a:pt x="0" y="0"/>
                </a:moveTo>
                <a:lnTo>
                  <a:pt x="45720" y="0"/>
                </a:lnTo>
                <a:lnTo>
                  <a:pt x="45720" y="548640"/>
                </a:lnTo>
                <a:lnTo>
                  <a:pt x="0" y="548640"/>
                </a:lnTo>
                <a:close/>
              </a:path>
            </a:pathLst>
          </a:custGeom>
          <a:solidFill>
            <a:srgbClr val="E74C3C"/>
          </a:solidFill>
          <a:ln/>
        </p:spPr>
      </p:sp>
      <p:sp>
        <p:nvSpPr>
          <p:cNvPr id="8" name="Text 5"/>
          <p:cNvSpPr/>
          <p:nvPr/>
        </p:nvSpPr>
        <p:spPr>
          <a:xfrm>
            <a:off x="731520" y="1024128"/>
            <a:ext cx="768096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E74C3C"/>
                </a:solidFill>
                <a:latin typeface="Microsoft YaHei" pitchFamily="34" charset="0"/>
                <a:ea typeface="Microsoft YaHei" pitchFamily="34" charset="-122"/>
                <a:cs typeface="Microsoft YaHei" pitchFamily="34" charset="-120"/>
              </a:rPr>
              <a:t>Demo 骨架（第1周）</a:t>
            </a:r>
            <a:pPr indent="0" marL="0">
              <a:lnSpc>
                <a:spcPct val="120000"/>
              </a:lnSpc>
              <a:spcBef>
                <a:spcPts val="360"/>
              </a:spcBef>
              <a:buNone/>
            </a:pPr>
            <a:r>
              <a:rPr lang="en-US" sz="1152" dirty="0">
                <a:solidFill>
                  <a:srgbClr val="D0D0D0"/>
                </a:solidFill>
                <a:latin typeface="Microsoft YaHei" pitchFamily="34" charset="0"/>
                <a:ea typeface="Microsoft YaHei" pitchFamily="34" charset="-122"/>
                <a:cs typeface="Microsoft YaHei" pitchFamily="34" charset="-120"/>
              </a:rPr>
              <a:t>　　潘飞扬 — 项目初始化与基础骨架搭建</a:t>
            </a:r>
            <a:endParaRPr lang="en-US" sz="1152" dirty="0"/>
          </a:p>
        </p:txBody>
      </p:sp>
      <p:sp>
        <p:nvSpPr>
          <p:cNvPr id="9" name="Shape 6"/>
          <p:cNvSpPr/>
          <p:nvPr/>
        </p:nvSpPr>
        <p:spPr>
          <a:xfrm>
            <a:off x="548640" y="1645920"/>
            <a:ext cx="3931920" cy="1188720"/>
          </a:xfrm>
          <a:custGeom>
            <a:avLst/>
            <a:gdLst/>
            <a:ahLst/>
            <a:cxnLst/>
            <a:rect l="l" t="t" r="r" b="b"/>
            <a:pathLst>
              <a:path w="3931920" h="1188720">
                <a:moveTo>
                  <a:pt x="0" y="0"/>
                </a:moveTo>
                <a:lnTo>
                  <a:pt x="3931920" y="0"/>
                </a:lnTo>
                <a:lnTo>
                  <a:pt x="3931920" y="1188720"/>
                </a:lnTo>
                <a:lnTo>
                  <a:pt x="0" y="1188720"/>
                </a:lnTo>
                <a:close/>
              </a:path>
            </a:pathLst>
          </a:custGeom>
          <a:solidFill>
            <a:srgbClr val="2980B9">
              <a:alpha val="15000"/>
            </a:srgbClr>
          </a:solidFill>
          <a:ln/>
        </p:spPr>
      </p:sp>
      <p:sp>
        <p:nvSpPr>
          <p:cNvPr id="10" name="Shape 7"/>
          <p:cNvSpPr/>
          <p:nvPr/>
        </p:nvSpPr>
        <p:spPr>
          <a:xfrm>
            <a:off x="548640" y="1645920"/>
            <a:ext cx="45720" cy="1188720"/>
          </a:xfrm>
          <a:custGeom>
            <a:avLst/>
            <a:gdLst/>
            <a:ahLst/>
            <a:cxnLst/>
            <a:rect l="l" t="t" r="r" b="b"/>
            <a:pathLst>
              <a:path w="45720" h="1188720">
                <a:moveTo>
                  <a:pt x="0" y="0"/>
                </a:moveTo>
                <a:lnTo>
                  <a:pt x="45720" y="0"/>
                </a:lnTo>
                <a:lnTo>
                  <a:pt x="45720" y="1188720"/>
                </a:lnTo>
                <a:lnTo>
                  <a:pt x="0" y="1188720"/>
                </a:lnTo>
                <a:close/>
              </a:path>
            </a:pathLst>
          </a:custGeom>
          <a:solidFill>
            <a:srgbClr val="2980B9"/>
          </a:solidFill>
          <a:ln/>
        </p:spPr>
      </p:sp>
      <p:sp>
        <p:nvSpPr>
          <p:cNvPr id="11" name="Text 8"/>
          <p:cNvSpPr/>
          <p:nvPr/>
        </p:nvSpPr>
        <p:spPr>
          <a:xfrm>
            <a:off x="731520" y="1691640"/>
            <a:ext cx="356616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498DB"/>
                </a:solidFill>
                <a:latin typeface="Microsoft YaHei" pitchFamily="34" charset="0"/>
                <a:ea typeface="Microsoft YaHei" pitchFamily="34" charset="-122"/>
                <a:cs typeface="Microsoft YaHei" pitchFamily="34" charset="-120"/>
              </a:rPr>
              <a:t>模块 A · 订阅与数据</a:t>
            </a:r>
            <a:endParaRPr lang="en-US" sz="1152" dirty="0"/>
          </a:p>
        </p:txBody>
      </p:sp>
      <p:sp>
        <p:nvSpPr>
          <p:cNvPr id="12" name="Text 9"/>
          <p:cNvSpPr/>
          <p:nvPr/>
        </p:nvSpPr>
        <p:spPr>
          <a:xfrm>
            <a:off x="731520" y="1993392"/>
            <a:ext cx="356616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A0B0C0"/>
                </a:solidFill>
                <a:latin typeface="Microsoft YaHei" pitchFamily="34" charset="0"/>
                <a:ea typeface="Microsoft YaHei" pitchFamily="34" charset="-122"/>
                <a:cs typeface="Microsoft YaHei" pitchFamily="34" charset="-120"/>
              </a:rPr>
              <a:t>👤 陆锦云、颜泽宇</a:t>
            </a:r>
            <a:endParaRPr lang="en-US" sz="1152" dirty="0"/>
          </a:p>
        </p:txBody>
      </p:sp>
      <p:sp>
        <p:nvSpPr>
          <p:cNvPr id="13" name="Text 10"/>
          <p:cNvSpPr/>
          <p:nvPr/>
        </p:nvSpPr>
        <p:spPr>
          <a:xfrm>
            <a:off x="731520" y="2331720"/>
            <a:ext cx="356616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8899AA"/>
                </a:solidFill>
                <a:latin typeface="Microsoft YaHei" pitchFamily="34" charset="0"/>
                <a:ea typeface="Microsoft YaHei" pitchFamily="34" charset="-122"/>
                <a:cs typeface="Microsoft YaHei" pitchFamily="34" charset="-120"/>
              </a:rPr>
              <a:t>Feed 解析 · OPML 导入 · 刷新同步</a:t>
            </a:r>
            <a:endParaRPr lang="en-US" sz="1152" dirty="0"/>
          </a:p>
        </p:txBody>
      </p:sp>
      <p:sp>
        <p:nvSpPr>
          <p:cNvPr id="14" name="Shape 11"/>
          <p:cNvSpPr/>
          <p:nvPr/>
        </p:nvSpPr>
        <p:spPr>
          <a:xfrm>
            <a:off x="4663440" y="1645920"/>
            <a:ext cx="3931920" cy="1188720"/>
          </a:xfrm>
          <a:custGeom>
            <a:avLst/>
            <a:gdLst/>
            <a:ahLst/>
            <a:cxnLst/>
            <a:rect l="l" t="t" r="r" b="b"/>
            <a:pathLst>
              <a:path w="3931920" h="1188720">
                <a:moveTo>
                  <a:pt x="0" y="0"/>
                </a:moveTo>
                <a:lnTo>
                  <a:pt x="3931920" y="0"/>
                </a:lnTo>
                <a:lnTo>
                  <a:pt x="3931920" y="1188720"/>
                </a:lnTo>
                <a:lnTo>
                  <a:pt x="0" y="1188720"/>
                </a:lnTo>
                <a:close/>
              </a:path>
            </a:pathLst>
          </a:custGeom>
          <a:solidFill>
            <a:srgbClr val="27AE60">
              <a:alpha val="15000"/>
            </a:srgbClr>
          </a:solidFill>
          <a:ln/>
        </p:spPr>
      </p:sp>
      <p:sp>
        <p:nvSpPr>
          <p:cNvPr id="15" name="Shape 12"/>
          <p:cNvSpPr/>
          <p:nvPr/>
        </p:nvSpPr>
        <p:spPr>
          <a:xfrm>
            <a:off x="4663440" y="1645920"/>
            <a:ext cx="45720" cy="1188720"/>
          </a:xfrm>
          <a:custGeom>
            <a:avLst/>
            <a:gdLst/>
            <a:ahLst/>
            <a:cxnLst/>
            <a:rect l="l" t="t" r="r" b="b"/>
            <a:pathLst>
              <a:path w="45720" h="1188720">
                <a:moveTo>
                  <a:pt x="0" y="0"/>
                </a:moveTo>
                <a:lnTo>
                  <a:pt x="45720" y="0"/>
                </a:lnTo>
                <a:lnTo>
                  <a:pt x="45720" y="1188720"/>
                </a:lnTo>
                <a:lnTo>
                  <a:pt x="0" y="1188720"/>
                </a:lnTo>
                <a:close/>
              </a:path>
            </a:pathLst>
          </a:custGeom>
          <a:solidFill>
            <a:srgbClr val="27AE60"/>
          </a:solidFill>
          <a:ln/>
        </p:spPr>
      </p:sp>
      <p:sp>
        <p:nvSpPr>
          <p:cNvPr id="16" name="Text 13"/>
          <p:cNvSpPr/>
          <p:nvPr/>
        </p:nvSpPr>
        <p:spPr>
          <a:xfrm>
            <a:off x="4846320" y="1691640"/>
            <a:ext cx="356616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2ECC71"/>
                </a:solidFill>
                <a:latin typeface="Microsoft YaHei" pitchFamily="34" charset="0"/>
                <a:ea typeface="Microsoft YaHei" pitchFamily="34" charset="-122"/>
                <a:cs typeface="Microsoft YaHei" pitchFamily="34" charset="-120"/>
              </a:rPr>
              <a:t>模块 B · 清洗与阅读</a:t>
            </a:r>
            <a:endParaRPr lang="en-US" sz="1152" dirty="0"/>
          </a:p>
        </p:txBody>
      </p:sp>
      <p:sp>
        <p:nvSpPr>
          <p:cNvPr id="17" name="Text 14"/>
          <p:cNvSpPr/>
          <p:nvPr/>
        </p:nvSpPr>
        <p:spPr>
          <a:xfrm>
            <a:off x="4846320" y="1993392"/>
            <a:ext cx="356616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A0B0C0"/>
                </a:solidFill>
                <a:latin typeface="Microsoft YaHei" pitchFamily="34" charset="0"/>
                <a:ea typeface="Microsoft YaHei" pitchFamily="34" charset="-122"/>
                <a:cs typeface="Microsoft YaHei" pitchFamily="34" charset="-120"/>
              </a:rPr>
              <a:t>👤 于海洋、刘昊阳</a:t>
            </a:r>
            <a:endParaRPr lang="en-US" sz="1152" dirty="0"/>
          </a:p>
        </p:txBody>
      </p:sp>
      <p:sp>
        <p:nvSpPr>
          <p:cNvPr id="18" name="Text 15"/>
          <p:cNvSpPr/>
          <p:nvPr/>
        </p:nvSpPr>
        <p:spPr>
          <a:xfrm>
            <a:off x="4846320" y="2331720"/>
            <a:ext cx="356616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8899AA"/>
                </a:solidFill>
                <a:latin typeface="Microsoft YaHei" pitchFamily="34" charset="0"/>
                <a:ea typeface="Microsoft YaHei" pitchFamily="34" charset="-122"/>
                <a:cs typeface="Microsoft YaHei" pitchFamily="34" charset="-120"/>
              </a:rPr>
              <a:t>内容清洗 · Markdown 转换 · Reader View</a:t>
            </a:r>
            <a:endParaRPr lang="en-US" sz="1152" dirty="0"/>
          </a:p>
        </p:txBody>
      </p:sp>
      <p:sp>
        <p:nvSpPr>
          <p:cNvPr id="19" name="Shape 16"/>
          <p:cNvSpPr/>
          <p:nvPr/>
        </p:nvSpPr>
        <p:spPr>
          <a:xfrm>
            <a:off x="548640" y="2971800"/>
            <a:ext cx="3931920" cy="1188720"/>
          </a:xfrm>
          <a:custGeom>
            <a:avLst/>
            <a:gdLst/>
            <a:ahLst/>
            <a:cxnLst/>
            <a:rect l="l" t="t" r="r" b="b"/>
            <a:pathLst>
              <a:path w="3931920" h="1188720">
                <a:moveTo>
                  <a:pt x="0" y="0"/>
                </a:moveTo>
                <a:lnTo>
                  <a:pt x="3931920" y="0"/>
                </a:lnTo>
                <a:lnTo>
                  <a:pt x="3931920" y="1188720"/>
                </a:lnTo>
                <a:lnTo>
                  <a:pt x="0" y="1188720"/>
                </a:lnTo>
                <a:close/>
              </a:path>
            </a:pathLst>
          </a:custGeom>
          <a:solidFill>
            <a:srgbClr val="8E44AD">
              <a:alpha val="15000"/>
            </a:srgbClr>
          </a:solidFill>
          <a:ln/>
        </p:spPr>
      </p:sp>
      <p:sp>
        <p:nvSpPr>
          <p:cNvPr id="20" name="Shape 17"/>
          <p:cNvSpPr/>
          <p:nvPr/>
        </p:nvSpPr>
        <p:spPr>
          <a:xfrm>
            <a:off x="548640" y="2971800"/>
            <a:ext cx="45720" cy="1188720"/>
          </a:xfrm>
          <a:custGeom>
            <a:avLst/>
            <a:gdLst/>
            <a:ahLst/>
            <a:cxnLst/>
            <a:rect l="l" t="t" r="r" b="b"/>
            <a:pathLst>
              <a:path w="45720" h="1188720">
                <a:moveTo>
                  <a:pt x="0" y="0"/>
                </a:moveTo>
                <a:lnTo>
                  <a:pt x="45720" y="0"/>
                </a:lnTo>
                <a:lnTo>
                  <a:pt x="45720" y="1188720"/>
                </a:lnTo>
                <a:lnTo>
                  <a:pt x="0" y="1188720"/>
                </a:lnTo>
                <a:close/>
              </a:path>
            </a:pathLst>
          </a:custGeom>
          <a:solidFill>
            <a:srgbClr val="8E44AD"/>
          </a:solidFill>
          <a:ln/>
        </p:spPr>
      </p:sp>
      <p:sp>
        <p:nvSpPr>
          <p:cNvPr id="21" name="Text 18"/>
          <p:cNvSpPr/>
          <p:nvPr/>
        </p:nvSpPr>
        <p:spPr>
          <a:xfrm>
            <a:off x="731520" y="3017520"/>
            <a:ext cx="356616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9B59B6"/>
                </a:solidFill>
                <a:latin typeface="Microsoft YaHei" pitchFamily="34" charset="0"/>
                <a:ea typeface="Microsoft YaHei" pitchFamily="34" charset="-122"/>
                <a:cs typeface="Microsoft YaHei" pitchFamily="34" charset="-120"/>
              </a:rPr>
              <a:t>模块 C · AI 摘要与翻译</a:t>
            </a:r>
            <a:endParaRPr lang="en-US" sz="1152" dirty="0"/>
          </a:p>
        </p:txBody>
      </p:sp>
      <p:sp>
        <p:nvSpPr>
          <p:cNvPr id="22" name="Text 19"/>
          <p:cNvSpPr/>
          <p:nvPr/>
        </p:nvSpPr>
        <p:spPr>
          <a:xfrm>
            <a:off x="731520" y="3319272"/>
            <a:ext cx="356616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A0B0C0"/>
                </a:solidFill>
                <a:latin typeface="Microsoft YaHei" pitchFamily="34" charset="0"/>
                <a:ea typeface="Microsoft YaHei" pitchFamily="34" charset="-122"/>
                <a:cs typeface="Microsoft YaHei" pitchFamily="34" charset="-120"/>
              </a:rPr>
              <a:t>👤 林宇轩、孙佳杰</a:t>
            </a:r>
            <a:endParaRPr lang="en-US" sz="1152" dirty="0"/>
          </a:p>
        </p:txBody>
      </p:sp>
      <p:sp>
        <p:nvSpPr>
          <p:cNvPr id="23" name="Text 20"/>
          <p:cNvSpPr/>
          <p:nvPr/>
        </p:nvSpPr>
        <p:spPr>
          <a:xfrm>
            <a:off x="731520" y="3657600"/>
            <a:ext cx="356616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8899AA"/>
                </a:solidFill>
                <a:latin typeface="Microsoft YaHei" pitchFamily="34" charset="0"/>
                <a:ea typeface="Microsoft YaHei" pitchFamily="34" charset="-122"/>
                <a:cs typeface="Microsoft YaHei" pitchFamily="34" charset="-120"/>
              </a:rPr>
              <a:t>LLM Provider · Summary Agent · Translation Agent</a:t>
            </a:r>
            <a:endParaRPr lang="en-US" sz="1152" dirty="0"/>
          </a:p>
        </p:txBody>
      </p:sp>
      <p:sp>
        <p:nvSpPr>
          <p:cNvPr id="24" name="Shape 21"/>
          <p:cNvSpPr/>
          <p:nvPr/>
        </p:nvSpPr>
        <p:spPr>
          <a:xfrm>
            <a:off x="4663440" y="2971800"/>
            <a:ext cx="3931920" cy="1188720"/>
          </a:xfrm>
          <a:custGeom>
            <a:avLst/>
            <a:gdLst/>
            <a:ahLst/>
            <a:cxnLst/>
            <a:rect l="l" t="t" r="r" b="b"/>
            <a:pathLst>
              <a:path w="3931920" h="1188720">
                <a:moveTo>
                  <a:pt x="0" y="0"/>
                </a:moveTo>
                <a:lnTo>
                  <a:pt x="3931920" y="0"/>
                </a:lnTo>
                <a:lnTo>
                  <a:pt x="3931920" y="1188720"/>
                </a:lnTo>
                <a:lnTo>
                  <a:pt x="0" y="1188720"/>
                </a:lnTo>
                <a:close/>
              </a:path>
            </a:pathLst>
          </a:custGeom>
          <a:solidFill>
            <a:srgbClr val="E67E22">
              <a:alpha val="15000"/>
            </a:srgbClr>
          </a:solidFill>
          <a:ln/>
        </p:spPr>
      </p:sp>
      <p:sp>
        <p:nvSpPr>
          <p:cNvPr id="25" name="Shape 22"/>
          <p:cNvSpPr/>
          <p:nvPr/>
        </p:nvSpPr>
        <p:spPr>
          <a:xfrm>
            <a:off x="4663440" y="2971800"/>
            <a:ext cx="45720" cy="1188720"/>
          </a:xfrm>
          <a:custGeom>
            <a:avLst/>
            <a:gdLst/>
            <a:ahLst/>
            <a:cxnLst/>
            <a:rect l="l" t="t" r="r" b="b"/>
            <a:pathLst>
              <a:path w="45720" h="1188720">
                <a:moveTo>
                  <a:pt x="0" y="0"/>
                </a:moveTo>
                <a:lnTo>
                  <a:pt x="45720" y="0"/>
                </a:lnTo>
                <a:lnTo>
                  <a:pt x="45720" y="1188720"/>
                </a:lnTo>
                <a:lnTo>
                  <a:pt x="0" y="1188720"/>
                </a:lnTo>
                <a:close/>
              </a:path>
            </a:pathLst>
          </a:custGeom>
          <a:solidFill>
            <a:srgbClr val="E67E22"/>
          </a:solidFill>
          <a:ln/>
        </p:spPr>
      </p:sp>
      <p:sp>
        <p:nvSpPr>
          <p:cNvPr id="26" name="Text 23"/>
          <p:cNvSpPr/>
          <p:nvPr/>
        </p:nvSpPr>
        <p:spPr>
          <a:xfrm>
            <a:off x="4846320" y="3017520"/>
            <a:ext cx="356616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F39C12"/>
                </a:solidFill>
                <a:latin typeface="Microsoft YaHei" pitchFamily="34" charset="0"/>
                <a:ea typeface="Microsoft YaHei" pitchFamily="34" charset="-122"/>
                <a:cs typeface="Microsoft YaHei" pitchFamily="34" charset="-120"/>
              </a:rPr>
              <a:t>模块 D · 标签、导出与设置</a:t>
            </a:r>
            <a:endParaRPr lang="en-US" sz="1152" dirty="0"/>
          </a:p>
        </p:txBody>
      </p:sp>
      <p:sp>
        <p:nvSpPr>
          <p:cNvPr id="27" name="Text 24"/>
          <p:cNvSpPr/>
          <p:nvPr/>
        </p:nvSpPr>
        <p:spPr>
          <a:xfrm>
            <a:off x="4846320" y="3319272"/>
            <a:ext cx="356616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A0B0C0"/>
                </a:solidFill>
                <a:latin typeface="Microsoft YaHei" pitchFamily="34" charset="0"/>
                <a:ea typeface="Microsoft YaHei" pitchFamily="34" charset="-122"/>
                <a:cs typeface="Microsoft YaHei" pitchFamily="34" charset="-120"/>
              </a:rPr>
              <a:t>👤 潘飞扬、张震</a:t>
            </a:r>
            <a:endParaRPr lang="en-US" sz="1152" dirty="0"/>
          </a:p>
        </p:txBody>
      </p:sp>
      <p:sp>
        <p:nvSpPr>
          <p:cNvPr id="28" name="Text 25"/>
          <p:cNvSpPr/>
          <p:nvPr/>
        </p:nvSpPr>
        <p:spPr>
          <a:xfrm>
            <a:off x="4846320" y="3657600"/>
            <a:ext cx="356616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8899AA"/>
                </a:solidFill>
                <a:latin typeface="Microsoft YaHei" pitchFamily="34" charset="0"/>
                <a:ea typeface="Microsoft YaHei" pitchFamily="34" charset="-122"/>
                <a:cs typeface="Microsoft YaHei" pitchFamily="34" charset="-120"/>
              </a:rPr>
              <a:t>标签管理 · 导出功能 · LLM 配置</a:t>
            </a:r>
            <a:endParaRPr lang="en-US" sz="1152" dirty="0"/>
          </a:p>
        </p:txBody>
      </p:sp>
      <p:sp>
        <p:nvSpPr>
          <p:cNvPr id="29" name="Shape 26"/>
          <p:cNvSpPr/>
          <p:nvPr/>
        </p:nvSpPr>
        <p:spPr>
          <a:xfrm>
            <a:off x="548640" y="4389120"/>
            <a:ext cx="8046720" cy="9144"/>
          </a:xfrm>
          <a:custGeom>
            <a:avLst/>
            <a:gdLst/>
            <a:ahLst/>
            <a:cxnLst/>
            <a:rect l="l" t="t" r="r" b="b"/>
            <a:pathLst>
              <a:path w="8046720" h="9144">
                <a:moveTo>
                  <a:pt x="0" y="0"/>
                </a:moveTo>
                <a:lnTo>
                  <a:pt x="8046720" y="0"/>
                </a:lnTo>
                <a:lnTo>
                  <a:pt x="8046720" y="9144"/>
                </a:lnTo>
                <a:lnTo>
                  <a:pt x="0" y="9144"/>
                </a:lnTo>
                <a:close/>
              </a:path>
            </a:pathLst>
          </a:custGeom>
          <a:solidFill>
            <a:srgbClr val="333355"/>
          </a:solidFill>
          <a:ln/>
        </p:spPr>
      </p:sp>
      <p:sp>
        <p:nvSpPr>
          <p:cNvPr id="30" name="Text 27"/>
          <p:cNvSpPr/>
          <p:nvPr/>
        </p:nvSpPr>
        <p:spPr>
          <a:xfrm>
            <a:off x="548640" y="4480560"/>
            <a:ext cx="80467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555577"/>
                </a:solidFill>
                <a:latin typeface="Microsoft YaHei" pitchFamily="34" charset="0"/>
                <a:ea typeface="Microsoft YaHei" pitchFamily="34" charset="-122"/>
                <a:cs typeface="Microsoft YaHei" pitchFamily="34" charset="-120"/>
              </a:rPr>
              <a:t>4 大模块并行开发 · 2 人协作 · 明确边界与接口</a:t>
            </a:r>
            <a:endParaRPr lang="en-US" sz="115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4">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731520"/>
          </a:xfrm>
          <a:custGeom>
            <a:avLst/>
            <a:gdLst/>
            <a:ahLst/>
            <a:cxnLst/>
            <a:rect l="l" t="t" r="r" b="b"/>
            <a:pathLst>
              <a:path w="9144000" h="731520">
                <a:moveTo>
                  <a:pt x="0" y="0"/>
                </a:moveTo>
                <a:lnTo>
                  <a:pt x="9144000" y="0"/>
                </a:lnTo>
                <a:lnTo>
                  <a:pt x="9144000" y="731520"/>
                </a:lnTo>
                <a:lnTo>
                  <a:pt x="0" y="731520"/>
                </a:lnTo>
                <a:close/>
              </a:path>
            </a:pathLst>
          </a:custGeom>
          <a:solidFill>
            <a:srgbClr val="1E3A5F"/>
          </a:solidFill>
          <a:ln/>
        </p:spPr>
      </p:sp>
      <p:sp>
        <p:nvSpPr>
          <p:cNvPr id="4" name="Text 1"/>
          <p:cNvSpPr/>
          <p:nvPr/>
        </p:nvSpPr>
        <p:spPr>
          <a:xfrm>
            <a:off x="548640" y="128016"/>
            <a:ext cx="548640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016" b="1" dirty="0">
                <a:solidFill>
                  <a:srgbClr val="FFFFFF"/>
                </a:solidFill>
                <a:latin typeface="Microsoft YaHei" pitchFamily="34" charset="0"/>
                <a:ea typeface="Microsoft YaHei" pitchFamily="34" charset="-122"/>
                <a:cs typeface="Microsoft YaHei" pitchFamily="34" charset="-120"/>
              </a:rPr>
              <a:t>开发计划与时间线</a:t>
            </a:r>
            <a:endParaRPr lang="en-US" sz="1152" dirty="0"/>
          </a:p>
        </p:txBody>
      </p:sp>
      <p:sp>
        <p:nvSpPr>
          <p:cNvPr id="5" name="Text 2"/>
          <p:cNvSpPr/>
          <p:nvPr/>
        </p:nvSpPr>
        <p:spPr>
          <a:xfrm>
            <a:off x="6035040" y="164592"/>
            <a:ext cx="2560320" cy="393192"/>
          </a:xfrm>
          <a:prstGeom prst="rect">
            <a:avLst/>
          </a:prstGeom>
          <a:noFill/>
          <a:ln/>
        </p:spPr>
        <p:txBody>
          <a:bodyPr wrap="square" lIns="91440" tIns="91440" rIns="91440" bIns="91440" rtlCol="0" anchor="t">
            <a:spAutoFit/>
          </a:bodyPr>
          <a:lstStyle/>
          <a:p>
            <a:pPr algn="r" indent="0" marL="0">
              <a:lnSpc>
                <a:spcPct val="120000"/>
              </a:lnSpc>
              <a:spcBef>
                <a:spcPts val="360"/>
              </a:spcBef>
              <a:buNone/>
            </a:pPr>
            <a:r>
              <a:rPr lang="en-US" sz="1008" dirty="0">
                <a:solidFill>
                  <a:srgbClr val="94B8D8"/>
                </a:solidFill>
                <a:latin typeface="Microsoft YaHei" pitchFamily="34" charset="0"/>
                <a:ea typeface="Microsoft YaHei" pitchFamily="34" charset="-122"/>
                <a:cs typeface="Microsoft YaHei" pitchFamily="34" charset="-120"/>
              </a:rPr>
              <a:t>「1 + 3 + 1」开发结构 · 五周交付</a:t>
            </a:r>
            <a:endParaRPr lang="en-US" sz="1152" dirty="0"/>
          </a:p>
        </p:txBody>
      </p:sp>
      <p:sp>
        <p:nvSpPr>
          <p:cNvPr id="6" name="Text 3"/>
          <p:cNvSpPr/>
          <p:nvPr/>
        </p:nvSpPr>
        <p:spPr>
          <a:xfrm>
            <a:off x="548640" y="841248"/>
            <a:ext cx="804672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1E3A5F"/>
                </a:solidFill>
                <a:latin typeface="Microsoft YaHei" pitchFamily="34" charset="0"/>
                <a:ea typeface="Microsoft YaHei" pitchFamily="34" charset="-122"/>
                <a:cs typeface="Microsoft YaHei" pitchFamily="34" charset="-120"/>
              </a:rPr>
              <a:t>开发结构：1（骨架搭建）+ 3（并行开发）+ 1（集成收尾）</a:t>
            </a:r>
            <a:endParaRPr lang="en-US" sz="1152" dirty="0"/>
          </a:p>
        </p:txBody>
      </p:sp>
      <p:sp>
        <p:nvSpPr>
          <p:cNvPr id="7" name="Shape 4"/>
          <p:cNvSpPr/>
          <p:nvPr/>
        </p:nvSpPr>
        <p:spPr>
          <a:xfrm>
            <a:off x="548640" y="1261872"/>
            <a:ext cx="8046720" cy="18288"/>
          </a:xfrm>
          <a:custGeom>
            <a:avLst/>
            <a:gdLst/>
            <a:ahLst/>
            <a:cxnLst/>
            <a:rect l="l" t="t" r="r" b="b"/>
            <a:pathLst>
              <a:path w="8046720" h="18288">
                <a:moveTo>
                  <a:pt x="0" y="0"/>
                </a:moveTo>
                <a:lnTo>
                  <a:pt x="8046720" y="0"/>
                </a:lnTo>
                <a:lnTo>
                  <a:pt x="8046720" y="18288"/>
                </a:lnTo>
                <a:lnTo>
                  <a:pt x="0" y="18288"/>
                </a:lnTo>
                <a:close/>
              </a:path>
            </a:pathLst>
          </a:custGeom>
          <a:solidFill>
            <a:srgbClr val="CBD5E1"/>
          </a:solidFill>
          <a:ln/>
        </p:spPr>
      </p:sp>
      <p:sp>
        <p:nvSpPr>
          <p:cNvPr id="8" name="Shape 5"/>
          <p:cNvSpPr/>
          <p:nvPr/>
        </p:nvSpPr>
        <p:spPr>
          <a:xfrm>
            <a:off x="548640" y="1444752"/>
            <a:ext cx="1554480" cy="1188720"/>
          </a:xfrm>
          <a:custGeom>
            <a:avLst/>
            <a:gdLst/>
            <a:ahLst/>
            <a:cxnLst/>
            <a:rect l="l" t="t" r="r" b="b"/>
            <a:pathLst>
              <a:path w="1554480" h="1188720">
                <a:moveTo>
                  <a:pt x="0" y="0"/>
                </a:moveTo>
                <a:lnTo>
                  <a:pt x="1554480" y="0"/>
                </a:lnTo>
                <a:lnTo>
                  <a:pt x="1554480" y="1188720"/>
                </a:lnTo>
                <a:lnTo>
                  <a:pt x="0" y="1188720"/>
                </a:lnTo>
                <a:close/>
              </a:path>
            </a:pathLst>
          </a:custGeom>
          <a:solidFill>
            <a:srgbClr val="1E3A5F"/>
          </a:solidFill>
          <a:ln/>
        </p:spPr>
      </p:sp>
      <p:sp>
        <p:nvSpPr>
          <p:cNvPr id="9" name="Text 6"/>
          <p:cNvSpPr/>
          <p:nvPr/>
        </p:nvSpPr>
        <p:spPr>
          <a:xfrm>
            <a:off x="640080" y="1481328"/>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FFFFFF"/>
                </a:solidFill>
                <a:latin typeface="Microsoft YaHei" pitchFamily="34" charset="0"/>
                <a:ea typeface="Microsoft YaHei" pitchFamily="34" charset="-122"/>
                <a:cs typeface="Microsoft YaHei" pitchFamily="34" charset="-120"/>
              </a:rPr>
              <a:t>第 1 周</a:t>
            </a:r>
            <a:endParaRPr lang="en-US" sz="1152" dirty="0"/>
          </a:p>
        </p:txBody>
      </p:sp>
      <p:sp>
        <p:nvSpPr>
          <p:cNvPr id="10" name="Text 7"/>
          <p:cNvSpPr/>
          <p:nvPr/>
        </p:nvSpPr>
        <p:spPr>
          <a:xfrm>
            <a:off x="640080" y="1810512"/>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93C5FD"/>
                </a:solidFill>
                <a:latin typeface="Microsoft YaHei" pitchFamily="34" charset="0"/>
                <a:ea typeface="Microsoft YaHei" pitchFamily="34" charset="-122"/>
                <a:cs typeface="Microsoft YaHei" pitchFamily="34" charset="-120"/>
              </a:rPr>
              <a:t>骨架搭建</a:t>
            </a:r>
            <a:endParaRPr lang="en-US" sz="1152" dirty="0"/>
          </a:p>
        </p:txBody>
      </p:sp>
      <p:sp>
        <p:nvSpPr>
          <p:cNvPr id="11" name="Text 8"/>
          <p:cNvSpPr/>
          <p:nvPr/>
        </p:nvSpPr>
        <p:spPr>
          <a:xfrm>
            <a:off x="640080" y="2157984"/>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864" dirty="0">
                <a:solidFill>
                  <a:srgbClr val="CBD5E1"/>
                </a:solidFill>
                <a:latin typeface="Microsoft YaHei" pitchFamily="34" charset="0"/>
                <a:ea typeface="Microsoft YaHei" pitchFamily="34" charset="-122"/>
                <a:cs typeface="Microsoft YaHei" pitchFamily="34" charset="-120"/>
              </a:rPr>
              <a:t>Demo 基础框架</a:t>
            </a:r>
            <a:endParaRPr lang="en-US" sz="1152" dirty="0"/>
          </a:p>
        </p:txBody>
      </p:sp>
      <p:sp>
        <p:nvSpPr>
          <p:cNvPr id="12" name="Shape 9"/>
          <p:cNvSpPr/>
          <p:nvPr/>
        </p:nvSpPr>
        <p:spPr>
          <a:xfrm>
            <a:off x="2103120" y="2039112"/>
            <a:ext cx="256032" cy="0"/>
          </a:xfrm>
          <a:custGeom>
            <a:avLst/>
            <a:gdLst/>
            <a:ahLst/>
            <a:cxnLst/>
            <a:rect l="l" t="t" r="r" b="b"/>
            <a:pathLst>
              <a:path w="256032" h="0">
                <a:moveTo>
                  <a:pt x="0" y="0"/>
                </a:moveTo>
                <a:lnTo>
                  <a:pt x="256032" y="0"/>
                </a:lnTo>
              </a:path>
            </a:pathLst>
          </a:custGeom>
          <a:noFill/>
          <a:ln w="27432">
            <a:solidFill>
              <a:srgbClr val="64748B"/>
            </a:solidFill>
            <a:prstDash val="solid"/>
            <a:headEnd type="none"/>
            <a:tailEnd type="arrow"/>
          </a:ln>
        </p:spPr>
      </p:sp>
      <p:sp>
        <p:nvSpPr>
          <p:cNvPr id="13" name="Shape 10"/>
          <p:cNvSpPr/>
          <p:nvPr/>
        </p:nvSpPr>
        <p:spPr>
          <a:xfrm>
            <a:off x="2359152" y="1444752"/>
            <a:ext cx="1554480" cy="1188720"/>
          </a:xfrm>
          <a:custGeom>
            <a:avLst/>
            <a:gdLst/>
            <a:ahLst/>
            <a:cxnLst/>
            <a:rect l="l" t="t" r="r" b="b"/>
            <a:pathLst>
              <a:path w="1554480" h="1188720">
                <a:moveTo>
                  <a:pt x="0" y="0"/>
                </a:moveTo>
                <a:lnTo>
                  <a:pt x="1554480" y="0"/>
                </a:lnTo>
                <a:lnTo>
                  <a:pt x="1554480" y="1188720"/>
                </a:lnTo>
                <a:lnTo>
                  <a:pt x="0" y="1188720"/>
                </a:lnTo>
                <a:close/>
              </a:path>
            </a:pathLst>
          </a:custGeom>
          <a:solidFill>
            <a:srgbClr val="2563EB"/>
          </a:solidFill>
          <a:ln/>
        </p:spPr>
      </p:sp>
      <p:sp>
        <p:nvSpPr>
          <p:cNvPr id="14" name="Text 11"/>
          <p:cNvSpPr/>
          <p:nvPr/>
        </p:nvSpPr>
        <p:spPr>
          <a:xfrm>
            <a:off x="2450592" y="1481328"/>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FFFFFF"/>
                </a:solidFill>
                <a:latin typeface="Microsoft YaHei" pitchFamily="34" charset="0"/>
                <a:ea typeface="Microsoft YaHei" pitchFamily="34" charset="-122"/>
                <a:cs typeface="Microsoft YaHei" pitchFamily="34" charset="-120"/>
              </a:rPr>
              <a:t>第 2 周</a:t>
            </a:r>
            <a:endParaRPr lang="en-US" sz="1152" dirty="0"/>
          </a:p>
        </p:txBody>
      </p:sp>
      <p:sp>
        <p:nvSpPr>
          <p:cNvPr id="15" name="Text 12"/>
          <p:cNvSpPr/>
          <p:nvPr/>
        </p:nvSpPr>
        <p:spPr>
          <a:xfrm>
            <a:off x="2450592" y="1810512"/>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BFDBFE"/>
                </a:solidFill>
                <a:latin typeface="Microsoft YaHei" pitchFamily="34" charset="0"/>
                <a:ea typeface="Microsoft YaHei" pitchFamily="34" charset="-122"/>
                <a:cs typeface="Microsoft YaHei" pitchFamily="34" charset="-120"/>
              </a:rPr>
              <a:t>Mock 独立开发</a:t>
            </a:r>
            <a:endParaRPr lang="en-US" sz="1152" dirty="0"/>
          </a:p>
        </p:txBody>
      </p:sp>
      <p:sp>
        <p:nvSpPr>
          <p:cNvPr id="16" name="Text 13"/>
          <p:cNvSpPr/>
          <p:nvPr/>
        </p:nvSpPr>
        <p:spPr>
          <a:xfrm>
            <a:off x="2450592" y="2157984"/>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864" dirty="0">
                <a:solidFill>
                  <a:srgbClr val="DBEAFE"/>
                </a:solidFill>
                <a:latin typeface="Microsoft YaHei" pitchFamily="34" charset="0"/>
                <a:ea typeface="Microsoft YaHei" pitchFamily="34" charset="-122"/>
                <a:cs typeface="Microsoft YaHei" pitchFamily="34" charset="-120"/>
              </a:rPr>
              <a:t>4 组并行 · Mock 数据</a:t>
            </a:r>
            <a:endParaRPr lang="en-US" sz="1152" dirty="0"/>
          </a:p>
        </p:txBody>
      </p:sp>
      <p:sp>
        <p:nvSpPr>
          <p:cNvPr id="17" name="Shape 14"/>
          <p:cNvSpPr/>
          <p:nvPr/>
        </p:nvSpPr>
        <p:spPr>
          <a:xfrm>
            <a:off x="3913632" y="2039112"/>
            <a:ext cx="256032" cy="0"/>
          </a:xfrm>
          <a:custGeom>
            <a:avLst/>
            <a:gdLst/>
            <a:ahLst/>
            <a:cxnLst/>
            <a:rect l="l" t="t" r="r" b="b"/>
            <a:pathLst>
              <a:path w="256032" h="0">
                <a:moveTo>
                  <a:pt x="0" y="0"/>
                </a:moveTo>
                <a:lnTo>
                  <a:pt x="256032" y="0"/>
                </a:lnTo>
              </a:path>
            </a:pathLst>
          </a:custGeom>
          <a:noFill/>
          <a:ln w="27432">
            <a:solidFill>
              <a:srgbClr val="64748B"/>
            </a:solidFill>
            <a:prstDash val="solid"/>
            <a:headEnd type="none"/>
            <a:tailEnd type="arrow"/>
          </a:ln>
        </p:spPr>
      </p:sp>
      <p:sp>
        <p:nvSpPr>
          <p:cNvPr id="18" name="Shape 15"/>
          <p:cNvSpPr/>
          <p:nvPr/>
        </p:nvSpPr>
        <p:spPr>
          <a:xfrm>
            <a:off x="4169664" y="1444752"/>
            <a:ext cx="1554480" cy="1188720"/>
          </a:xfrm>
          <a:custGeom>
            <a:avLst/>
            <a:gdLst/>
            <a:ahLst/>
            <a:cxnLst/>
            <a:rect l="l" t="t" r="r" b="b"/>
            <a:pathLst>
              <a:path w="1554480" h="1188720">
                <a:moveTo>
                  <a:pt x="0" y="0"/>
                </a:moveTo>
                <a:lnTo>
                  <a:pt x="1554480" y="0"/>
                </a:lnTo>
                <a:lnTo>
                  <a:pt x="1554480" y="1188720"/>
                </a:lnTo>
                <a:lnTo>
                  <a:pt x="0" y="1188720"/>
                </a:lnTo>
                <a:close/>
              </a:path>
            </a:pathLst>
          </a:custGeom>
          <a:solidFill>
            <a:srgbClr val="2563EB"/>
          </a:solidFill>
          <a:ln/>
        </p:spPr>
      </p:sp>
      <p:sp>
        <p:nvSpPr>
          <p:cNvPr id="19" name="Text 16"/>
          <p:cNvSpPr/>
          <p:nvPr/>
        </p:nvSpPr>
        <p:spPr>
          <a:xfrm>
            <a:off x="4261104" y="1481328"/>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FFFFFF"/>
                </a:solidFill>
                <a:latin typeface="Microsoft YaHei" pitchFamily="34" charset="0"/>
                <a:ea typeface="Microsoft YaHei" pitchFamily="34" charset="-122"/>
                <a:cs typeface="Microsoft YaHei" pitchFamily="34" charset="-120"/>
              </a:rPr>
              <a:t>第 3 周</a:t>
            </a:r>
            <a:endParaRPr lang="en-US" sz="1152" dirty="0"/>
          </a:p>
        </p:txBody>
      </p:sp>
      <p:sp>
        <p:nvSpPr>
          <p:cNvPr id="20" name="Text 17"/>
          <p:cNvSpPr/>
          <p:nvPr/>
        </p:nvSpPr>
        <p:spPr>
          <a:xfrm>
            <a:off x="4261104" y="1810512"/>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BFDBFE"/>
                </a:solidFill>
                <a:latin typeface="Microsoft YaHei" pitchFamily="34" charset="0"/>
                <a:ea typeface="Microsoft YaHei" pitchFamily="34" charset="-122"/>
                <a:cs typeface="Microsoft YaHei" pitchFamily="34" charset="-120"/>
              </a:rPr>
              <a:t>接口对接</a:t>
            </a:r>
            <a:endParaRPr lang="en-US" sz="1152" dirty="0"/>
          </a:p>
        </p:txBody>
      </p:sp>
      <p:sp>
        <p:nvSpPr>
          <p:cNvPr id="21" name="Text 18"/>
          <p:cNvSpPr/>
          <p:nvPr/>
        </p:nvSpPr>
        <p:spPr>
          <a:xfrm>
            <a:off x="4261104" y="2157984"/>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864" dirty="0">
                <a:solidFill>
                  <a:srgbClr val="DBEAFE"/>
                </a:solidFill>
                <a:latin typeface="Microsoft YaHei" pitchFamily="34" charset="0"/>
                <a:ea typeface="Microsoft YaHei" pitchFamily="34" charset="-122"/>
                <a:cs typeface="Microsoft YaHei" pitchFamily="34" charset="-120"/>
              </a:rPr>
              <a:t>前后端联通</a:t>
            </a:r>
            <a:endParaRPr lang="en-US" sz="1152" dirty="0"/>
          </a:p>
        </p:txBody>
      </p:sp>
      <p:sp>
        <p:nvSpPr>
          <p:cNvPr id="22" name="Shape 19"/>
          <p:cNvSpPr/>
          <p:nvPr/>
        </p:nvSpPr>
        <p:spPr>
          <a:xfrm>
            <a:off x="5724144" y="2039112"/>
            <a:ext cx="256032" cy="0"/>
          </a:xfrm>
          <a:custGeom>
            <a:avLst/>
            <a:gdLst/>
            <a:ahLst/>
            <a:cxnLst/>
            <a:rect l="l" t="t" r="r" b="b"/>
            <a:pathLst>
              <a:path w="256032" h="0">
                <a:moveTo>
                  <a:pt x="0" y="0"/>
                </a:moveTo>
                <a:lnTo>
                  <a:pt x="256032" y="0"/>
                </a:lnTo>
              </a:path>
            </a:pathLst>
          </a:custGeom>
          <a:noFill/>
          <a:ln w="27432">
            <a:solidFill>
              <a:srgbClr val="64748B"/>
            </a:solidFill>
            <a:prstDash val="solid"/>
            <a:headEnd type="none"/>
            <a:tailEnd type="arrow"/>
          </a:ln>
        </p:spPr>
      </p:sp>
      <p:sp>
        <p:nvSpPr>
          <p:cNvPr id="23" name="Shape 20"/>
          <p:cNvSpPr/>
          <p:nvPr/>
        </p:nvSpPr>
        <p:spPr>
          <a:xfrm>
            <a:off x="5980176" y="1444752"/>
            <a:ext cx="1554480" cy="1188720"/>
          </a:xfrm>
          <a:custGeom>
            <a:avLst/>
            <a:gdLst/>
            <a:ahLst/>
            <a:cxnLst/>
            <a:rect l="l" t="t" r="r" b="b"/>
            <a:pathLst>
              <a:path w="1554480" h="1188720">
                <a:moveTo>
                  <a:pt x="0" y="0"/>
                </a:moveTo>
                <a:lnTo>
                  <a:pt x="1554480" y="0"/>
                </a:lnTo>
                <a:lnTo>
                  <a:pt x="1554480" y="1188720"/>
                </a:lnTo>
                <a:lnTo>
                  <a:pt x="0" y="1188720"/>
                </a:lnTo>
                <a:close/>
              </a:path>
            </a:pathLst>
          </a:custGeom>
          <a:solidFill>
            <a:srgbClr val="2563EB"/>
          </a:solidFill>
          <a:ln/>
        </p:spPr>
      </p:sp>
      <p:sp>
        <p:nvSpPr>
          <p:cNvPr id="24" name="Text 21"/>
          <p:cNvSpPr/>
          <p:nvPr/>
        </p:nvSpPr>
        <p:spPr>
          <a:xfrm>
            <a:off x="6071616" y="1481328"/>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FFFFFF"/>
                </a:solidFill>
                <a:latin typeface="Microsoft YaHei" pitchFamily="34" charset="0"/>
                <a:ea typeface="Microsoft YaHei" pitchFamily="34" charset="-122"/>
                <a:cs typeface="Microsoft YaHei" pitchFamily="34" charset="-120"/>
              </a:rPr>
              <a:t>第 4 周</a:t>
            </a:r>
            <a:endParaRPr lang="en-US" sz="1152" dirty="0"/>
          </a:p>
        </p:txBody>
      </p:sp>
      <p:sp>
        <p:nvSpPr>
          <p:cNvPr id="25" name="Text 22"/>
          <p:cNvSpPr/>
          <p:nvPr/>
        </p:nvSpPr>
        <p:spPr>
          <a:xfrm>
            <a:off x="6071616" y="1810512"/>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BFDBFE"/>
                </a:solidFill>
                <a:latin typeface="Microsoft YaHei" pitchFamily="34" charset="0"/>
                <a:ea typeface="Microsoft YaHei" pitchFamily="34" charset="-122"/>
                <a:cs typeface="Microsoft YaHei" pitchFamily="34" charset="-120"/>
              </a:rPr>
              <a:t>联调优化</a:t>
            </a:r>
            <a:endParaRPr lang="en-US" sz="1152" dirty="0"/>
          </a:p>
        </p:txBody>
      </p:sp>
      <p:sp>
        <p:nvSpPr>
          <p:cNvPr id="26" name="Text 23"/>
          <p:cNvSpPr/>
          <p:nvPr/>
        </p:nvSpPr>
        <p:spPr>
          <a:xfrm>
            <a:off x="6071616" y="2157984"/>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864" dirty="0">
                <a:solidFill>
                  <a:srgbClr val="DBEAFE"/>
                </a:solidFill>
                <a:latin typeface="Microsoft YaHei" pitchFamily="34" charset="0"/>
                <a:ea typeface="Microsoft YaHei" pitchFamily="34" charset="-122"/>
                <a:cs typeface="Microsoft YaHei" pitchFamily="34" charset="-120"/>
              </a:rPr>
              <a:t>功能联调 · 性能优化</a:t>
            </a:r>
            <a:endParaRPr lang="en-US" sz="1152" dirty="0"/>
          </a:p>
        </p:txBody>
      </p:sp>
      <p:sp>
        <p:nvSpPr>
          <p:cNvPr id="27" name="Shape 24"/>
          <p:cNvSpPr/>
          <p:nvPr/>
        </p:nvSpPr>
        <p:spPr>
          <a:xfrm>
            <a:off x="2359152" y="1353312"/>
            <a:ext cx="5175504" cy="36576"/>
          </a:xfrm>
          <a:custGeom>
            <a:avLst/>
            <a:gdLst/>
            <a:ahLst/>
            <a:cxnLst/>
            <a:rect l="l" t="t" r="r" b="b"/>
            <a:pathLst>
              <a:path w="5175504" h="36576">
                <a:moveTo>
                  <a:pt x="0" y="0"/>
                </a:moveTo>
                <a:lnTo>
                  <a:pt x="5175504" y="0"/>
                </a:lnTo>
                <a:lnTo>
                  <a:pt x="5175504" y="36576"/>
                </a:lnTo>
                <a:lnTo>
                  <a:pt x="0" y="36576"/>
                </a:lnTo>
                <a:close/>
              </a:path>
            </a:pathLst>
          </a:custGeom>
          <a:solidFill>
            <a:srgbClr val="3B82F6"/>
          </a:solidFill>
          <a:ln/>
        </p:spPr>
      </p:sp>
      <p:sp>
        <p:nvSpPr>
          <p:cNvPr id="28" name="Text 25"/>
          <p:cNvSpPr/>
          <p:nvPr/>
        </p:nvSpPr>
        <p:spPr>
          <a:xfrm>
            <a:off x="3840480" y="2670048"/>
            <a:ext cx="18288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3B82F6"/>
                </a:solidFill>
                <a:latin typeface="Microsoft YaHei" pitchFamily="34" charset="0"/>
                <a:ea typeface="Microsoft YaHei" pitchFamily="34" charset="-122"/>
                <a:cs typeface="Microsoft YaHei" pitchFamily="34" charset="-120"/>
              </a:rPr>
              <a:t>3 周并行开发阶段</a:t>
            </a:r>
            <a:endParaRPr lang="en-US" sz="1152" dirty="0"/>
          </a:p>
        </p:txBody>
      </p:sp>
      <p:sp>
        <p:nvSpPr>
          <p:cNvPr id="29" name="Shape 26"/>
          <p:cNvSpPr/>
          <p:nvPr/>
        </p:nvSpPr>
        <p:spPr>
          <a:xfrm>
            <a:off x="7589520" y="2039112"/>
            <a:ext cx="0" cy="457200"/>
          </a:xfrm>
          <a:custGeom>
            <a:avLst/>
            <a:gdLst/>
            <a:ahLst/>
            <a:cxnLst/>
            <a:rect l="l" t="t" r="r" b="b"/>
            <a:pathLst>
              <a:path w="0" h="457200">
                <a:moveTo>
                  <a:pt x="0" y="0"/>
                </a:moveTo>
                <a:lnTo>
                  <a:pt x="0" y="457200"/>
                </a:lnTo>
              </a:path>
            </a:pathLst>
          </a:custGeom>
          <a:noFill/>
          <a:ln w="27432">
            <a:solidFill>
              <a:srgbClr val="64748B"/>
            </a:solidFill>
            <a:prstDash val="dash"/>
            <a:headEnd type="none"/>
            <a:tailEnd type="arrow"/>
          </a:ln>
        </p:spPr>
      </p:sp>
      <p:sp>
        <p:nvSpPr>
          <p:cNvPr id="30" name="Shape 27"/>
          <p:cNvSpPr/>
          <p:nvPr/>
        </p:nvSpPr>
        <p:spPr>
          <a:xfrm>
            <a:off x="548640" y="3108960"/>
            <a:ext cx="8046720" cy="822960"/>
          </a:xfrm>
          <a:custGeom>
            <a:avLst/>
            <a:gdLst/>
            <a:ahLst/>
            <a:cxnLst/>
            <a:rect l="l" t="t" r="r" b="b"/>
            <a:pathLst>
              <a:path w="8046720" h="822960">
                <a:moveTo>
                  <a:pt x="0" y="0"/>
                </a:moveTo>
                <a:lnTo>
                  <a:pt x="8046720" y="0"/>
                </a:lnTo>
                <a:lnTo>
                  <a:pt x="8046720" y="822960"/>
                </a:lnTo>
                <a:lnTo>
                  <a:pt x="0" y="822960"/>
                </a:lnTo>
                <a:close/>
              </a:path>
            </a:pathLst>
          </a:custGeom>
          <a:solidFill>
            <a:srgbClr val="059669"/>
          </a:solidFill>
          <a:ln/>
        </p:spPr>
      </p:sp>
      <p:sp>
        <p:nvSpPr>
          <p:cNvPr id="31" name="Text 28"/>
          <p:cNvSpPr/>
          <p:nvPr/>
        </p:nvSpPr>
        <p:spPr>
          <a:xfrm>
            <a:off x="640080" y="3163824"/>
            <a:ext cx="109728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FFFFFF"/>
                </a:solidFill>
                <a:latin typeface="Microsoft YaHei" pitchFamily="34" charset="0"/>
                <a:ea typeface="Microsoft YaHei" pitchFamily="34" charset="-122"/>
                <a:cs typeface="Microsoft YaHei" pitchFamily="34" charset="-120"/>
              </a:rPr>
              <a:t>第 5 周</a:t>
            </a:r>
            <a:endParaRPr lang="en-US" sz="1152" dirty="0"/>
          </a:p>
        </p:txBody>
      </p:sp>
      <p:sp>
        <p:nvSpPr>
          <p:cNvPr id="32" name="Text 29"/>
          <p:cNvSpPr/>
          <p:nvPr/>
        </p:nvSpPr>
        <p:spPr>
          <a:xfrm>
            <a:off x="640080" y="3493008"/>
            <a:ext cx="109728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A7F3D0"/>
                </a:solidFill>
                <a:latin typeface="Microsoft YaHei" pitchFamily="34" charset="0"/>
                <a:ea typeface="Microsoft YaHei" pitchFamily="34" charset="-122"/>
                <a:cs typeface="Microsoft YaHei" pitchFamily="34" charset="-120"/>
              </a:rPr>
              <a:t>集成收尾</a:t>
            </a:r>
            <a:endParaRPr lang="en-US" sz="1152" dirty="0"/>
          </a:p>
        </p:txBody>
      </p:sp>
      <p:sp>
        <p:nvSpPr>
          <p:cNvPr id="33" name="Shape 30"/>
          <p:cNvSpPr/>
          <p:nvPr/>
        </p:nvSpPr>
        <p:spPr>
          <a:xfrm>
            <a:off x="1920240" y="3246120"/>
            <a:ext cx="1417320" cy="548640"/>
          </a:xfrm>
          <a:custGeom>
            <a:avLst/>
            <a:gdLst/>
            <a:ahLst/>
            <a:cxnLst/>
            <a:rect l="l" t="t" r="r" b="b"/>
            <a:pathLst>
              <a:path w="1417320" h="548640">
                <a:moveTo>
                  <a:pt x="0" y="0"/>
                </a:moveTo>
                <a:lnTo>
                  <a:pt x="1417320" y="0"/>
                </a:lnTo>
                <a:lnTo>
                  <a:pt x="1417320" y="548640"/>
                </a:lnTo>
                <a:lnTo>
                  <a:pt x="0" y="548640"/>
                </a:lnTo>
                <a:close/>
              </a:path>
            </a:pathLst>
          </a:custGeom>
          <a:solidFill>
            <a:srgbClr val="047857"/>
          </a:solidFill>
          <a:ln/>
        </p:spPr>
      </p:sp>
      <p:sp>
        <p:nvSpPr>
          <p:cNvPr id="34" name="Text 31"/>
          <p:cNvSpPr/>
          <p:nvPr/>
        </p:nvSpPr>
        <p:spPr>
          <a:xfrm>
            <a:off x="1965960" y="3337560"/>
            <a:ext cx="132588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FFFFFF"/>
                </a:solidFill>
                <a:latin typeface="Microsoft YaHei" pitchFamily="34" charset="0"/>
                <a:ea typeface="Microsoft YaHei" pitchFamily="34" charset="-122"/>
                <a:cs typeface="Microsoft YaHei" pitchFamily="34" charset="-120"/>
              </a:rPr>
              <a:t>集成测试</a:t>
            </a:r>
            <a:endParaRPr lang="en-US" sz="1152" dirty="0"/>
          </a:p>
        </p:txBody>
      </p:sp>
      <p:sp>
        <p:nvSpPr>
          <p:cNvPr id="35" name="Shape 32"/>
          <p:cNvSpPr/>
          <p:nvPr/>
        </p:nvSpPr>
        <p:spPr>
          <a:xfrm>
            <a:off x="3520440" y="3246120"/>
            <a:ext cx="1417320" cy="548640"/>
          </a:xfrm>
          <a:custGeom>
            <a:avLst/>
            <a:gdLst/>
            <a:ahLst/>
            <a:cxnLst/>
            <a:rect l="l" t="t" r="r" b="b"/>
            <a:pathLst>
              <a:path w="1417320" h="548640">
                <a:moveTo>
                  <a:pt x="0" y="0"/>
                </a:moveTo>
                <a:lnTo>
                  <a:pt x="1417320" y="0"/>
                </a:lnTo>
                <a:lnTo>
                  <a:pt x="1417320" y="548640"/>
                </a:lnTo>
                <a:lnTo>
                  <a:pt x="0" y="548640"/>
                </a:lnTo>
                <a:close/>
              </a:path>
            </a:pathLst>
          </a:custGeom>
          <a:solidFill>
            <a:srgbClr val="047857"/>
          </a:solidFill>
          <a:ln/>
        </p:spPr>
      </p:sp>
      <p:sp>
        <p:nvSpPr>
          <p:cNvPr id="36" name="Text 33"/>
          <p:cNvSpPr/>
          <p:nvPr/>
        </p:nvSpPr>
        <p:spPr>
          <a:xfrm>
            <a:off x="3566160" y="3337560"/>
            <a:ext cx="132588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FFFFFF"/>
                </a:solidFill>
                <a:latin typeface="Microsoft YaHei" pitchFamily="34" charset="0"/>
                <a:ea typeface="Microsoft YaHei" pitchFamily="34" charset="-122"/>
                <a:cs typeface="Microsoft YaHei" pitchFamily="34" charset="-120"/>
              </a:rPr>
              <a:t>Bug 修复</a:t>
            </a:r>
            <a:endParaRPr lang="en-US" sz="1152" dirty="0"/>
          </a:p>
        </p:txBody>
      </p:sp>
      <p:sp>
        <p:nvSpPr>
          <p:cNvPr id="37" name="Shape 34"/>
          <p:cNvSpPr/>
          <p:nvPr/>
        </p:nvSpPr>
        <p:spPr>
          <a:xfrm>
            <a:off x="5120640" y="3246120"/>
            <a:ext cx="1417320" cy="548640"/>
          </a:xfrm>
          <a:custGeom>
            <a:avLst/>
            <a:gdLst/>
            <a:ahLst/>
            <a:cxnLst/>
            <a:rect l="l" t="t" r="r" b="b"/>
            <a:pathLst>
              <a:path w="1417320" h="548640">
                <a:moveTo>
                  <a:pt x="0" y="0"/>
                </a:moveTo>
                <a:lnTo>
                  <a:pt x="1417320" y="0"/>
                </a:lnTo>
                <a:lnTo>
                  <a:pt x="1417320" y="548640"/>
                </a:lnTo>
                <a:lnTo>
                  <a:pt x="0" y="548640"/>
                </a:lnTo>
                <a:close/>
              </a:path>
            </a:pathLst>
          </a:custGeom>
          <a:solidFill>
            <a:srgbClr val="047857"/>
          </a:solidFill>
          <a:ln/>
        </p:spPr>
      </p:sp>
      <p:sp>
        <p:nvSpPr>
          <p:cNvPr id="38" name="Text 35"/>
          <p:cNvSpPr/>
          <p:nvPr/>
        </p:nvSpPr>
        <p:spPr>
          <a:xfrm>
            <a:off x="5166360" y="3337560"/>
            <a:ext cx="132588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FFFFFF"/>
                </a:solidFill>
                <a:latin typeface="Microsoft YaHei" pitchFamily="34" charset="0"/>
                <a:ea typeface="Microsoft YaHei" pitchFamily="34" charset="-122"/>
                <a:cs typeface="Microsoft YaHei" pitchFamily="34" charset="-120"/>
              </a:rPr>
              <a:t>文档整理</a:t>
            </a:r>
            <a:endParaRPr lang="en-US" sz="1152" dirty="0"/>
          </a:p>
        </p:txBody>
      </p:sp>
      <p:sp>
        <p:nvSpPr>
          <p:cNvPr id="39" name="Shape 36"/>
          <p:cNvSpPr/>
          <p:nvPr/>
        </p:nvSpPr>
        <p:spPr>
          <a:xfrm>
            <a:off x="6720840" y="3246120"/>
            <a:ext cx="1417320" cy="548640"/>
          </a:xfrm>
          <a:custGeom>
            <a:avLst/>
            <a:gdLst/>
            <a:ahLst/>
            <a:cxnLst/>
            <a:rect l="l" t="t" r="r" b="b"/>
            <a:pathLst>
              <a:path w="1417320" h="548640">
                <a:moveTo>
                  <a:pt x="0" y="0"/>
                </a:moveTo>
                <a:lnTo>
                  <a:pt x="1417320" y="0"/>
                </a:lnTo>
                <a:lnTo>
                  <a:pt x="1417320" y="548640"/>
                </a:lnTo>
                <a:lnTo>
                  <a:pt x="0" y="548640"/>
                </a:lnTo>
                <a:close/>
              </a:path>
            </a:pathLst>
          </a:custGeom>
          <a:solidFill>
            <a:srgbClr val="047857"/>
          </a:solidFill>
          <a:ln/>
        </p:spPr>
      </p:sp>
      <p:sp>
        <p:nvSpPr>
          <p:cNvPr id="40" name="Text 37"/>
          <p:cNvSpPr/>
          <p:nvPr/>
        </p:nvSpPr>
        <p:spPr>
          <a:xfrm>
            <a:off x="6766560" y="3337560"/>
            <a:ext cx="132588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FFFFFF"/>
                </a:solidFill>
                <a:latin typeface="Microsoft YaHei" pitchFamily="34" charset="0"/>
                <a:ea typeface="Microsoft YaHei" pitchFamily="34" charset="-122"/>
                <a:cs typeface="Microsoft YaHei" pitchFamily="34" charset="-120"/>
              </a:rPr>
              <a:t>演示准备</a:t>
            </a:r>
            <a:endParaRPr lang="en-US" sz="1152" dirty="0"/>
          </a:p>
        </p:txBody>
      </p:sp>
      <p:sp>
        <p:nvSpPr>
          <p:cNvPr id="41" name="Shape 38"/>
          <p:cNvSpPr/>
          <p:nvPr/>
        </p:nvSpPr>
        <p:spPr>
          <a:xfrm>
            <a:off x="548640" y="4133088"/>
            <a:ext cx="182880" cy="182880"/>
          </a:xfrm>
          <a:custGeom>
            <a:avLst/>
            <a:gdLst/>
            <a:ahLst/>
            <a:cxnLst/>
            <a:rect l="l" t="t" r="r" b="b"/>
            <a:pathLst>
              <a:path w="182880" h="182880">
                <a:moveTo>
                  <a:pt x="182880" y="91440"/>
                </a:moveTo>
                <a:cubicBezTo>
                  <a:pt x="182880" y="141907"/>
                  <a:pt x="141907" y="182880"/>
                  <a:pt x="91440" y="182880"/>
                </a:cubicBezTo>
                <a:cubicBezTo>
                  <a:pt x="40973" y="182880"/>
                  <a:pt x="0" y="141907"/>
                  <a:pt x="0" y="91440"/>
                </a:cubicBezTo>
                <a:cubicBezTo>
                  <a:pt x="0" y="40973"/>
                  <a:pt x="40973" y="0"/>
                  <a:pt x="91440" y="0"/>
                </a:cubicBezTo>
                <a:cubicBezTo>
                  <a:pt x="141907" y="0"/>
                  <a:pt x="182880" y="40973"/>
                  <a:pt x="182880" y="91440"/>
                </a:cubicBezTo>
                <a:close/>
              </a:path>
            </a:pathLst>
          </a:custGeom>
          <a:solidFill>
            <a:srgbClr val="F59E0B"/>
          </a:solidFill>
          <a:ln/>
        </p:spPr>
      </p:sp>
      <p:sp>
        <p:nvSpPr>
          <p:cNvPr id="42" name="Text 39"/>
          <p:cNvSpPr/>
          <p:nvPr/>
        </p:nvSpPr>
        <p:spPr>
          <a:xfrm>
            <a:off x="804672" y="4078224"/>
            <a:ext cx="237744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92400E"/>
                </a:solidFill>
                <a:latin typeface="Microsoft YaHei" pitchFamily="34" charset="0"/>
                <a:ea typeface="Microsoft YaHei" pitchFamily="34" charset="-122"/>
                <a:cs typeface="Microsoft YaHei" pitchFamily="34" charset="-120"/>
              </a:rPr>
              <a:t>每周检查点</a:t>
            </a:r>
            <a:endParaRPr lang="en-US" sz="1152" dirty="0"/>
          </a:p>
        </p:txBody>
      </p:sp>
      <p:sp>
        <p:nvSpPr>
          <p:cNvPr id="43" name="Shape 40"/>
          <p:cNvSpPr/>
          <p:nvPr/>
        </p:nvSpPr>
        <p:spPr>
          <a:xfrm>
            <a:off x="1828800" y="4096512"/>
            <a:ext cx="4572000" cy="292608"/>
          </a:xfrm>
          <a:custGeom>
            <a:avLst/>
            <a:gdLst/>
            <a:ahLst/>
            <a:cxnLst/>
            <a:rect l="l" t="t" r="r" b="b"/>
            <a:pathLst>
              <a:path w="4572000" h="292608">
                <a:moveTo>
                  <a:pt x="0" y="0"/>
                </a:moveTo>
                <a:lnTo>
                  <a:pt x="4572000" y="0"/>
                </a:lnTo>
                <a:lnTo>
                  <a:pt x="4572000" y="292608"/>
                </a:lnTo>
                <a:lnTo>
                  <a:pt x="0" y="292608"/>
                </a:lnTo>
                <a:close/>
              </a:path>
            </a:pathLst>
          </a:custGeom>
          <a:solidFill>
            <a:srgbClr val="FEF3C7"/>
          </a:solidFill>
          <a:ln/>
        </p:spPr>
      </p:sp>
      <p:sp>
        <p:nvSpPr>
          <p:cNvPr id="44" name="Text 41"/>
          <p:cNvSpPr/>
          <p:nvPr/>
        </p:nvSpPr>
        <p:spPr>
          <a:xfrm>
            <a:off x="1920240" y="4105656"/>
            <a:ext cx="438912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78350F"/>
                </a:solidFill>
                <a:latin typeface="Microsoft YaHei" pitchFamily="34" charset="0"/>
                <a:ea typeface="Microsoft YaHei" pitchFamily="34" charset="-122"/>
                <a:cs typeface="Microsoft YaHei" pitchFamily="34" charset="-120"/>
              </a:rPr>
              <a:t>验收方式：截图  ·  录屏  ·  端到端演示</a:t>
            </a:r>
            <a:endParaRPr lang="en-US" sz="1152" dirty="0"/>
          </a:p>
        </p:txBody>
      </p:sp>
      <p:sp>
        <p:nvSpPr>
          <p:cNvPr id="45" name="Shape 42"/>
          <p:cNvSpPr/>
          <p:nvPr/>
        </p:nvSpPr>
        <p:spPr>
          <a:xfrm>
            <a:off x="914400" y="4626864"/>
            <a:ext cx="329184" cy="329184"/>
          </a:xfrm>
          <a:custGeom>
            <a:avLst/>
            <a:gdLst/>
            <a:ahLst/>
            <a:cxnLst/>
            <a:rect l="l" t="t" r="r" b="b"/>
            <a:pathLst>
              <a:path w="329184" h="329184">
                <a:moveTo>
                  <a:pt x="329184" y="164592"/>
                </a:moveTo>
                <a:cubicBezTo>
                  <a:pt x="329184" y="255433"/>
                  <a:pt x="255433" y="329184"/>
                  <a:pt x="164592" y="329184"/>
                </a:cubicBezTo>
                <a:cubicBezTo>
                  <a:pt x="73751" y="329184"/>
                  <a:pt x="0" y="255433"/>
                  <a:pt x="0" y="164592"/>
                </a:cubicBezTo>
                <a:cubicBezTo>
                  <a:pt x="0" y="73751"/>
                  <a:pt x="73751" y="0"/>
                  <a:pt x="164592" y="0"/>
                </a:cubicBezTo>
                <a:cubicBezTo>
                  <a:pt x="255433" y="0"/>
                  <a:pt x="329184" y="73751"/>
                  <a:pt x="329184" y="164592"/>
                </a:cubicBezTo>
                <a:close/>
              </a:path>
            </a:pathLst>
          </a:custGeom>
          <a:solidFill>
            <a:srgbClr val="1E3A5F"/>
          </a:solidFill>
          <a:ln/>
        </p:spPr>
      </p:sp>
      <p:sp>
        <p:nvSpPr>
          <p:cNvPr id="46" name="Text 43"/>
          <p:cNvSpPr/>
          <p:nvPr/>
        </p:nvSpPr>
        <p:spPr>
          <a:xfrm>
            <a:off x="914400" y="4626864"/>
            <a:ext cx="329184"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FFFFFF"/>
                </a:solidFill>
                <a:latin typeface="Microsoft YaHei" pitchFamily="34" charset="0"/>
                <a:ea typeface="Microsoft YaHei" pitchFamily="34" charset="-122"/>
                <a:cs typeface="Microsoft YaHei" pitchFamily="34" charset="-120"/>
              </a:rPr>
              <a:t>1</a:t>
            </a:r>
            <a:endParaRPr lang="en-US" sz="1152" dirty="0"/>
          </a:p>
        </p:txBody>
      </p:sp>
      <p:sp>
        <p:nvSpPr>
          <p:cNvPr id="47" name="Text 44"/>
          <p:cNvSpPr/>
          <p:nvPr/>
        </p:nvSpPr>
        <p:spPr>
          <a:xfrm>
            <a:off x="1307592" y="4663440"/>
            <a:ext cx="54864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864" dirty="0">
                <a:solidFill>
                  <a:srgbClr val="64748B"/>
                </a:solidFill>
                <a:latin typeface="Microsoft YaHei" pitchFamily="34" charset="0"/>
                <a:ea typeface="Microsoft YaHei" pitchFamily="34" charset="-122"/>
                <a:cs typeface="Microsoft YaHei" pitchFamily="34" charset="-120"/>
              </a:rPr>
              <a:t>骨架</a:t>
            </a:r>
            <a:endParaRPr lang="en-US" sz="1152" dirty="0"/>
          </a:p>
        </p:txBody>
      </p:sp>
      <p:sp>
        <p:nvSpPr>
          <p:cNvPr id="48" name="Text 45"/>
          <p:cNvSpPr/>
          <p:nvPr/>
        </p:nvSpPr>
        <p:spPr>
          <a:xfrm>
            <a:off x="1874520" y="4663440"/>
            <a:ext cx="2743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94A3B8"/>
                </a:solidFill>
                <a:latin typeface="Microsoft YaHei" pitchFamily="34" charset="0"/>
                <a:ea typeface="Microsoft YaHei" pitchFamily="34" charset="-122"/>
                <a:cs typeface="Microsoft YaHei" pitchFamily="34" charset="-120"/>
              </a:rPr>
              <a:t>+</a:t>
            </a:r>
            <a:endParaRPr lang="en-US" sz="1152" dirty="0"/>
          </a:p>
        </p:txBody>
      </p:sp>
      <p:sp>
        <p:nvSpPr>
          <p:cNvPr id="49" name="Shape 46"/>
          <p:cNvSpPr/>
          <p:nvPr/>
        </p:nvSpPr>
        <p:spPr>
          <a:xfrm>
            <a:off x="2194560" y="4626864"/>
            <a:ext cx="329184" cy="329184"/>
          </a:xfrm>
          <a:custGeom>
            <a:avLst/>
            <a:gdLst/>
            <a:ahLst/>
            <a:cxnLst/>
            <a:rect l="l" t="t" r="r" b="b"/>
            <a:pathLst>
              <a:path w="329184" h="329184">
                <a:moveTo>
                  <a:pt x="329184" y="164592"/>
                </a:moveTo>
                <a:cubicBezTo>
                  <a:pt x="329184" y="255433"/>
                  <a:pt x="255433" y="329184"/>
                  <a:pt x="164592" y="329184"/>
                </a:cubicBezTo>
                <a:cubicBezTo>
                  <a:pt x="73751" y="329184"/>
                  <a:pt x="0" y="255433"/>
                  <a:pt x="0" y="164592"/>
                </a:cubicBezTo>
                <a:cubicBezTo>
                  <a:pt x="0" y="73751"/>
                  <a:pt x="73751" y="0"/>
                  <a:pt x="164592" y="0"/>
                </a:cubicBezTo>
                <a:cubicBezTo>
                  <a:pt x="255433" y="0"/>
                  <a:pt x="329184" y="73751"/>
                  <a:pt x="329184" y="164592"/>
                </a:cubicBezTo>
                <a:close/>
              </a:path>
            </a:pathLst>
          </a:custGeom>
          <a:solidFill>
            <a:srgbClr val="2563EB"/>
          </a:solidFill>
          <a:ln/>
        </p:spPr>
      </p:sp>
      <p:sp>
        <p:nvSpPr>
          <p:cNvPr id="50" name="Text 47"/>
          <p:cNvSpPr/>
          <p:nvPr/>
        </p:nvSpPr>
        <p:spPr>
          <a:xfrm>
            <a:off x="2194560" y="4626864"/>
            <a:ext cx="329184"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FFFFFF"/>
                </a:solidFill>
                <a:latin typeface="Microsoft YaHei" pitchFamily="34" charset="0"/>
                <a:ea typeface="Microsoft YaHei" pitchFamily="34" charset="-122"/>
                <a:cs typeface="Microsoft YaHei" pitchFamily="34" charset="-120"/>
              </a:rPr>
              <a:t>3</a:t>
            </a:r>
            <a:endParaRPr lang="en-US" sz="1152" dirty="0"/>
          </a:p>
        </p:txBody>
      </p:sp>
      <p:sp>
        <p:nvSpPr>
          <p:cNvPr id="51" name="Text 48"/>
          <p:cNvSpPr/>
          <p:nvPr/>
        </p:nvSpPr>
        <p:spPr>
          <a:xfrm>
            <a:off x="2587752" y="4663440"/>
            <a:ext cx="54864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864" dirty="0">
                <a:solidFill>
                  <a:srgbClr val="64748B"/>
                </a:solidFill>
                <a:latin typeface="Microsoft YaHei" pitchFamily="34" charset="0"/>
                <a:ea typeface="Microsoft YaHei" pitchFamily="34" charset="-122"/>
                <a:cs typeface="Microsoft YaHei" pitchFamily="34" charset="-120"/>
              </a:rPr>
              <a:t>并行</a:t>
            </a:r>
            <a:endParaRPr lang="en-US" sz="1152" dirty="0"/>
          </a:p>
        </p:txBody>
      </p:sp>
      <p:sp>
        <p:nvSpPr>
          <p:cNvPr id="52" name="Text 49"/>
          <p:cNvSpPr/>
          <p:nvPr/>
        </p:nvSpPr>
        <p:spPr>
          <a:xfrm>
            <a:off x="3154680" y="4663440"/>
            <a:ext cx="2743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94A3B8"/>
                </a:solidFill>
                <a:latin typeface="Microsoft YaHei" pitchFamily="34" charset="0"/>
                <a:ea typeface="Microsoft YaHei" pitchFamily="34" charset="-122"/>
                <a:cs typeface="Microsoft YaHei" pitchFamily="34" charset="-120"/>
              </a:rPr>
              <a:t>+</a:t>
            </a:r>
            <a:endParaRPr lang="en-US" sz="1152" dirty="0"/>
          </a:p>
        </p:txBody>
      </p:sp>
      <p:sp>
        <p:nvSpPr>
          <p:cNvPr id="53" name="Shape 50"/>
          <p:cNvSpPr/>
          <p:nvPr/>
        </p:nvSpPr>
        <p:spPr>
          <a:xfrm>
            <a:off x="3474720" y="4626864"/>
            <a:ext cx="329184" cy="329184"/>
          </a:xfrm>
          <a:custGeom>
            <a:avLst/>
            <a:gdLst/>
            <a:ahLst/>
            <a:cxnLst/>
            <a:rect l="l" t="t" r="r" b="b"/>
            <a:pathLst>
              <a:path w="329184" h="329184">
                <a:moveTo>
                  <a:pt x="329184" y="164592"/>
                </a:moveTo>
                <a:cubicBezTo>
                  <a:pt x="329184" y="255433"/>
                  <a:pt x="255433" y="329184"/>
                  <a:pt x="164592" y="329184"/>
                </a:cubicBezTo>
                <a:cubicBezTo>
                  <a:pt x="73751" y="329184"/>
                  <a:pt x="0" y="255433"/>
                  <a:pt x="0" y="164592"/>
                </a:cubicBezTo>
                <a:cubicBezTo>
                  <a:pt x="0" y="73751"/>
                  <a:pt x="73751" y="0"/>
                  <a:pt x="164592" y="0"/>
                </a:cubicBezTo>
                <a:cubicBezTo>
                  <a:pt x="255433" y="0"/>
                  <a:pt x="329184" y="73751"/>
                  <a:pt x="329184" y="164592"/>
                </a:cubicBezTo>
                <a:close/>
              </a:path>
            </a:pathLst>
          </a:custGeom>
          <a:solidFill>
            <a:srgbClr val="059669"/>
          </a:solidFill>
          <a:ln/>
        </p:spPr>
      </p:sp>
      <p:sp>
        <p:nvSpPr>
          <p:cNvPr id="54" name="Text 51"/>
          <p:cNvSpPr/>
          <p:nvPr/>
        </p:nvSpPr>
        <p:spPr>
          <a:xfrm>
            <a:off x="3474720" y="4626864"/>
            <a:ext cx="329184"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FFFFFF"/>
                </a:solidFill>
                <a:latin typeface="Microsoft YaHei" pitchFamily="34" charset="0"/>
                <a:ea typeface="Microsoft YaHei" pitchFamily="34" charset="-122"/>
                <a:cs typeface="Microsoft YaHei" pitchFamily="34" charset="-120"/>
              </a:rPr>
              <a:t>1</a:t>
            </a:r>
            <a:endParaRPr lang="en-US" sz="1152" dirty="0"/>
          </a:p>
        </p:txBody>
      </p:sp>
      <p:sp>
        <p:nvSpPr>
          <p:cNvPr id="55" name="Text 52"/>
          <p:cNvSpPr/>
          <p:nvPr/>
        </p:nvSpPr>
        <p:spPr>
          <a:xfrm>
            <a:off x="3867912" y="4663440"/>
            <a:ext cx="54864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864" dirty="0">
                <a:solidFill>
                  <a:srgbClr val="64748B"/>
                </a:solidFill>
                <a:latin typeface="Microsoft YaHei" pitchFamily="34" charset="0"/>
                <a:ea typeface="Microsoft YaHei" pitchFamily="34" charset="-122"/>
                <a:cs typeface="Microsoft YaHei" pitchFamily="34" charset="-120"/>
              </a:rPr>
              <a:t>集成</a:t>
            </a:r>
            <a:endParaRPr lang="en-US" sz="1152"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5">
    <p:bg>
      <p:bgPr>
        <a:solidFill>
          <a:srgbClr val="F8F9FC"/>
        </a:solidFill>
      </p:bgPr>
    </p:bg>
    <p:spTree>
      <p:nvGrpSpPr>
        <p:cNvPr id="1" name=""/>
        <p:cNvGrpSpPr/>
        <p:nvPr/>
      </p:nvGrpSpPr>
      <p:grpSpPr>
        <a:xfrm>
          <a:off x="0" y="0"/>
          <a:ext cx="0" cy="0"/>
          <a:chOff x="0" y="0"/>
          <a:chExt cx="0" cy="0"/>
        </a:xfrm>
      </p:grpSpPr>
      <p:sp>
        <p:nvSpPr>
          <p:cNvPr id="3" name="Shape 0"/>
          <p:cNvSpPr/>
          <p:nvPr/>
        </p:nvSpPr>
        <p:spPr>
          <a:xfrm>
            <a:off x="457200" y="365760"/>
            <a:ext cx="8229600" cy="548640"/>
          </a:xfrm>
          <a:custGeom>
            <a:avLst/>
            <a:gdLst/>
            <a:ahLst/>
            <a:cxnLst/>
            <a:rect l="l" t="t" r="r" b="b"/>
            <a:pathLst>
              <a:path w="8229600" h="548640">
                <a:moveTo>
                  <a:pt x="0" y="0"/>
                </a:moveTo>
                <a:lnTo>
                  <a:pt x="8229600" y="0"/>
                </a:lnTo>
                <a:lnTo>
                  <a:pt x="8229600" y="548640"/>
                </a:lnTo>
                <a:lnTo>
                  <a:pt x="0" y="548640"/>
                </a:lnTo>
                <a:close/>
              </a:path>
            </a:pathLst>
          </a:custGeom>
          <a:solidFill>
            <a:srgbClr val="2B579A"/>
          </a:solidFill>
          <a:ln/>
        </p:spPr>
      </p:sp>
      <p:sp>
        <p:nvSpPr>
          <p:cNvPr id="4" name="Text 1"/>
          <p:cNvSpPr/>
          <p:nvPr/>
        </p:nvSpPr>
        <p:spPr>
          <a:xfrm>
            <a:off x="640080" y="384048"/>
            <a:ext cx="786384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2016" b="1" dirty="0">
                <a:solidFill>
                  <a:srgbClr val="FFFFFF"/>
                </a:solidFill>
                <a:latin typeface="Microsoft YaHei" pitchFamily="34" charset="0"/>
                <a:ea typeface="Microsoft YaHei" pitchFamily="34" charset="-122"/>
                <a:cs typeface="Microsoft YaHei" pitchFamily="34" charset="-120"/>
              </a:rPr>
              <a:t>各模块功能设计</a:t>
            </a:r>
            <a:endParaRPr lang="en-US" sz="1152" dirty="0"/>
          </a:p>
        </p:txBody>
      </p:sp>
      <p:sp>
        <p:nvSpPr>
          <p:cNvPr id="5" name="Text 2"/>
          <p:cNvSpPr/>
          <p:nvPr/>
        </p:nvSpPr>
        <p:spPr>
          <a:xfrm>
            <a:off x="548640" y="987552"/>
            <a:ext cx="80467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666666"/>
                </a:solidFill>
                <a:latin typeface="Microsoft YaHei" pitchFamily="34" charset="0"/>
                <a:ea typeface="Microsoft YaHei" pitchFamily="34" charset="-122"/>
                <a:cs typeface="Microsoft YaHei" pitchFamily="34" charset="-120"/>
              </a:rPr>
              <a:t>四大模块核心功能点 · Service 接口签名规范 · 交付标准</a:t>
            </a:r>
            <a:endParaRPr lang="en-US" sz="1152" dirty="0"/>
          </a:p>
        </p:txBody>
      </p:sp>
      <p:sp>
        <p:nvSpPr>
          <p:cNvPr id="6" name="Shape 3"/>
          <p:cNvSpPr/>
          <p:nvPr/>
        </p:nvSpPr>
        <p:spPr>
          <a:xfrm>
            <a:off x="548640" y="1508760"/>
            <a:ext cx="3931920" cy="1554480"/>
          </a:xfrm>
          <a:custGeom>
            <a:avLst/>
            <a:gdLst/>
            <a:ahLst/>
            <a:cxnLst/>
            <a:rect l="l" t="t" r="r" b="b"/>
            <a:pathLst>
              <a:path w="3931920" h="1554480">
                <a:moveTo>
                  <a:pt x="0" y="0"/>
                </a:moveTo>
                <a:lnTo>
                  <a:pt x="3931920" y="0"/>
                </a:lnTo>
                <a:lnTo>
                  <a:pt x="3931920" y="1554480"/>
                </a:lnTo>
                <a:lnTo>
                  <a:pt x="0" y="1554480"/>
                </a:lnTo>
                <a:close/>
              </a:path>
            </a:pathLst>
          </a:custGeom>
          <a:solidFill>
            <a:srgbClr val="EAF0FB"/>
          </a:solidFill>
          <a:ln/>
        </p:spPr>
      </p:sp>
      <p:sp>
        <p:nvSpPr>
          <p:cNvPr id="7" name="Shape 4"/>
          <p:cNvSpPr/>
          <p:nvPr/>
        </p:nvSpPr>
        <p:spPr>
          <a:xfrm>
            <a:off x="548640" y="1508760"/>
            <a:ext cx="822960" cy="292608"/>
          </a:xfrm>
          <a:custGeom>
            <a:avLst/>
            <a:gdLst/>
            <a:ahLst/>
            <a:cxnLst/>
            <a:rect l="l" t="t" r="r" b="b"/>
            <a:pathLst>
              <a:path w="822960" h="292608">
                <a:moveTo>
                  <a:pt x="0" y="0"/>
                </a:moveTo>
                <a:lnTo>
                  <a:pt x="822960" y="0"/>
                </a:lnTo>
                <a:lnTo>
                  <a:pt x="822960" y="292608"/>
                </a:lnTo>
                <a:lnTo>
                  <a:pt x="0" y="292608"/>
                </a:lnTo>
                <a:close/>
              </a:path>
            </a:pathLst>
          </a:custGeom>
          <a:solidFill>
            <a:srgbClr val="2B579A"/>
          </a:solidFill>
          <a:ln/>
        </p:spPr>
      </p:sp>
      <p:sp>
        <p:nvSpPr>
          <p:cNvPr id="8" name="Text 5"/>
          <p:cNvSpPr/>
          <p:nvPr/>
        </p:nvSpPr>
        <p:spPr>
          <a:xfrm>
            <a:off x="566928" y="1508760"/>
            <a:ext cx="786384" cy="29260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FFFFFF"/>
                </a:solidFill>
                <a:latin typeface="Microsoft YaHei" pitchFamily="34" charset="0"/>
                <a:ea typeface="Microsoft YaHei" pitchFamily="34" charset="-122"/>
                <a:cs typeface="Microsoft YaHei" pitchFamily="34" charset="-120"/>
              </a:rPr>
              <a:t>模块 A</a:t>
            </a:r>
            <a:endParaRPr lang="en-US" sz="1152" dirty="0"/>
          </a:p>
        </p:txBody>
      </p:sp>
      <p:sp>
        <p:nvSpPr>
          <p:cNvPr id="9" name="Text 6"/>
          <p:cNvSpPr/>
          <p:nvPr/>
        </p:nvSpPr>
        <p:spPr>
          <a:xfrm>
            <a:off x="731520" y="1828800"/>
            <a:ext cx="356616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2B579A"/>
                </a:solidFill>
                <a:latin typeface="Microsoft YaHei" pitchFamily="34" charset="0"/>
                <a:ea typeface="Microsoft YaHei" pitchFamily="34" charset="-122"/>
                <a:cs typeface="Microsoft YaHei" pitchFamily="34" charset="-120"/>
              </a:rPr>
              <a:t>Feed 订阅与数据采集</a:t>
            </a:r>
            <a:endParaRPr lang="en-US" sz="1152" dirty="0"/>
          </a:p>
        </p:txBody>
      </p:sp>
      <p:sp>
        <p:nvSpPr>
          <p:cNvPr id="10" name="Text 7"/>
          <p:cNvSpPr/>
          <p:nvPr/>
        </p:nvSpPr>
        <p:spPr>
          <a:xfrm>
            <a:off x="731520" y="2194560"/>
            <a:ext cx="3566160" cy="77724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RSS / Atom 协议解析</a:t>
            </a:r>
            <a:endParaRPr lang="en-US" sz="1152" dirty="0"/>
          </a:p>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OPML 批量导入导出</a:t>
            </a:r>
            <a:endParaRPr lang="en-US" sz="1152" dirty="0"/>
          </a:p>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定时 Feed 刷新 · 文章去重</a:t>
            </a:r>
            <a:endParaRPr lang="en-US" sz="1152" dirty="0"/>
          </a:p>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正文全文抓取（Fulltext Extraction）</a:t>
            </a:r>
            <a:endParaRPr lang="en-US" sz="1152" dirty="0"/>
          </a:p>
        </p:txBody>
      </p:sp>
      <p:sp>
        <p:nvSpPr>
          <p:cNvPr id="11" name="Shape 8"/>
          <p:cNvSpPr/>
          <p:nvPr/>
        </p:nvSpPr>
        <p:spPr>
          <a:xfrm>
            <a:off x="4663440" y="1508760"/>
            <a:ext cx="3931920" cy="1554480"/>
          </a:xfrm>
          <a:custGeom>
            <a:avLst/>
            <a:gdLst/>
            <a:ahLst/>
            <a:cxnLst/>
            <a:rect l="l" t="t" r="r" b="b"/>
            <a:pathLst>
              <a:path w="3931920" h="1554480">
                <a:moveTo>
                  <a:pt x="0" y="0"/>
                </a:moveTo>
                <a:lnTo>
                  <a:pt x="3931920" y="0"/>
                </a:lnTo>
                <a:lnTo>
                  <a:pt x="3931920" y="1554480"/>
                </a:lnTo>
                <a:lnTo>
                  <a:pt x="0" y="1554480"/>
                </a:lnTo>
                <a:close/>
              </a:path>
            </a:pathLst>
          </a:custGeom>
          <a:solidFill>
            <a:srgbClr val="E8F5E9"/>
          </a:solidFill>
          <a:ln/>
        </p:spPr>
      </p:sp>
      <p:sp>
        <p:nvSpPr>
          <p:cNvPr id="12" name="Shape 9"/>
          <p:cNvSpPr/>
          <p:nvPr/>
        </p:nvSpPr>
        <p:spPr>
          <a:xfrm>
            <a:off x="4663440" y="1508760"/>
            <a:ext cx="822960" cy="292608"/>
          </a:xfrm>
          <a:custGeom>
            <a:avLst/>
            <a:gdLst/>
            <a:ahLst/>
            <a:cxnLst/>
            <a:rect l="l" t="t" r="r" b="b"/>
            <a:pathLst>
              <a:path w="822960" h="292608">
                <a:moveTo>
                  <a:pt x="0" y="0"/>
                </a:moveTo>
                <a:lnTo>
                  <a:pt x="822960" y="0"/>
                </a:lnTo>
                <a:lnTo>
                  <a:pt x="822960" y="292608"/>
                </a:lnTo>
                <a:lnTo>
                  <a:pt x="0" y="292608"/>
                </a:lnTo>
                <a:close/>
              </a:path>
            </a:pathLst>
          </a:custGeom>
          <a:solidFill>
            <a:srgbClr val="2E7D32"/>
          </a:solidFill>
          <a:ln/>
        </p:spPr>
      </p:sp>
      <p:sp>
        <p:nvSpPr>
          <p:cNvPr id="13" name="Text 10"/>
          <p:cNvSpPr/>
          <p:nvPr/>
        </p:nvSpPr>
        <p:spPr>
          <a:xfrm>
            <a:off x="4681728" y="1508760"/>
            <a:ext cx="786384" cy="29260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FFFFFF"/>
                </a:solidFill>
                <a:latin typeface="Microsoft YaHei" pitchFamily="34" charset="0"/>
                <a:ea typeface="Microsoft YaHei" pitchFamily="34" charset="-122"/>
                <a:cs typeface="Microsoft YaHei" pitchFamily="34" charset="-120"/>
              </a:rPr>
              <a:t>模块 B</a:t>
            </a:r>
            <a:endParaRPr lang="en-US" sz="1152" dirty="0"/>
          </a:p>
        </p:txBody>
      </p:sp>
      <p:sp>
        <p:nvSpPr>
          <p:cNvPr id="14" name="Text 11"/>
          <p:cNvSpPr/>
          <p:nvPr/>
        </p:nvSpPr>
        <p:spPr>
          <a:xfrm>
            <a:off x="4846320" y="1828800"/>
            <a:ext cx="356616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2E7D32"/>
                </a:solidFill>
                <a:latin typeface="Microsoft YaHei" pitchFamily="34" charset="0"/>
                <a:ea typeface="Microsoft YaHei" pitchFamily="34" charset="-122"/>
                <a:cs typeface="Microsoft YaHei" pitchFamily="34" charset="-120"/>
              </a:rPr>
              <a:t>内容清洗与阅读体验</a:t>
            </a:r>
            <a:endParaRPr lang="en-US" sz="1152" dirty="0"/>
          </a:p>
        </p:txBody>
      </p:sp>
      <p:sp>
        <p:nvSpPr>
          <p:cNvPr id="15" name="Text 12"/>
          <p:cNvSpPr/>
          <p:nvPr/>
        </p:nvSpPr>
        <p:spPr>
          <a:xfrm>
            <a:off x="4846320" y="2194560"/>
            <a:ext cx="3566160" cy="77724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HTML 清洗：Readability + jsdom</a:t>
            </a:r>
            <a:endParaRPr lang="en-US" sz="1152" dirty="0"/>
          </a:p>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Markdown 转换：Turndown</a:t>
            </a:r>
            <a:endParaRPr lang="en-US" sz="1152" dirty="0"/>
          </a:p>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Reader View 沉浸式渲染</a:t>
            </a:r>
            <a:endParaRPr lang="en-US" sz="1152" dirty="0"/>
          </a:p>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阅读样式自定义（字号/主题）</a:t>
            </a:r>
            <a:endParaRPr lang="en-US" sz="1152" dirty="0"/>
          </a:p>
        </p:txBody>
      </p:sp>
      <p:sp>
        <p:nvSpPr>
          <p:cNvPr id="16" name="Shape 13"/>
          <p:cNvSpPr/>
          <p:nvPr/>
        </p:nvSpPr>
        <p:spPr>
          <a:xfrm>
            <a:off x="548640" y="3200400"/>
            <a:ext cx="3931920" cy="1554480"/>
          </a:xfrm>
          <a:custGeom>
            <a:avLst/>
            <a:gdLst/>
            <a:ahLst/>
            <a:cxnLst/>
            <a:rect l="l" t="t" r="r" b="b"/>
            <a:pathLst>
              <a:path w="3931920" h="1554480">
                <a:moveTo>
                  <a:pt x="0" y="0"/>
                </a:moveTo>
                <a:lnTo>
                  <a:pt x="3931920" y="0"/>
                </a:lnTo>
                <a:lnTo>
                  <a:pt x="3931920" y="1554480"/>
                </a:lnTo>
                <a:lnTo>
                  <a:pt x="0" y="1554480"/>
                </a:lnTo>
                <a:close/>
              </a:path>
            </a:pathLst>
          </a:custGeom>
          <a:solidFill>
            <a:srgbClr val="FFF3E0"/>
          </a:solidFill>
          <a:ln/>
        </p:spPr>
      </p:sp>
      <p:sp>
        <p:nvSpPr>
          <p:cNvPr id="17" name="Shape 14"/>
          <p:cNvSpPr/>
          <p:nvPr/>
        </p:nvSpPr>
        <p:spPr>
          <a:xfrm>
            <a:off x="548640" y="3200400"/>
            <a:ext cx="822960" cy="292608"/>
          </a:xfrm>
          <a:custGeom>
            <a:avLst/>
            <a:gdLst/>
            <a:ahLst/>
            <a:cxnLst/>
            <a:rect l="l" t="t" r="r" b="b"/>
            <a:pathLst>
              <a:path w="822960" h="292608">
                <a:moveTo>
                  <a:pt x="0" y="0"/>
                </a:moveTo>
                <a:lnTo>
                  <a:pt x="822960" y="0"/>
                </a:lnTo>
                <a:lnTo>
                  <a:pt x="822960" y="292608"/>
                </a:lnTo>
                <a:lnTo>
                  <a:pt x="0" y="292608"/>
                </a:lnTo>
                <a:close/>
              </a:path>
            </a:pathLst>
          </a:custGeom>
          <a:solidFill>
            <a:srgbClr val="E65100"/>
          </a:solidFill>
          <a:ln/>
        </p:spPr>
      </p:sp>
      <p:sp>
        <p:nvSpPr>
          <p:cNvPr id="18" name="Text 15"/>
          <p:cNvSpPr/>
          <p:nvPr/>
        </p:nvSpPr>
        <p:spPr>
          <a:xfrm>
            <a:off x="566928" y="3200400"/>
            <a:ext cx="786384" cy="29260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FFFFFF"/>
                </a:solidFill>
                <a:latin typeface="Microsoft YaHei" pitchFamily="34" charset="0"/>
                <a:ea typeface="Microsoft YaHei" pitchFamily="34" charset="-122"/>
                <a:cs typeface="Microsoft YaHei" pitchFamily="34" charset="-120"/>
              </a:rPr>
              <a:t>模块 C</a:t>
            </a:r>
            <a:endParaRPr lang="en-US" sz="1152" dirty="0"/>
          </a:p>
        </p:txBody>
      </p:sp>
      <p:sp>
        <p:nvSpPr>
          <p:cNvPr id="19" name="Text 16"/>
          <p:cNvSpPr/>
          <p:nvPr/>
        </p:nvSpPr>
        <p:spPr>
          <a:xfrm>
            <a:off x="731520" y="3520440"/>
            <a:ext cx="356616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E65100"/>
                </a:solidFill>
                <a:latin typeface="Microsoft YaHei" pitchFamily="34" charset="0"/>
                <a:ea typeface="Microsoft YaHei" pitchFamily="34" charset="-122"/>
                <a:cs typeface="Microsoft YaHei" pitchFamily="34" charset="-120"/>
              </a:rPr>
              <a:t>AI 智能处理层</a:t>
            </a:r>
            <a:endParaRPr lang="en-US" sz="1152" dirty="0"/>
          </a:p>
        </p:txBody>
      </p:sp>
      <p:sp>
        <p:nvSpPr>
          <p:cNvPr id="20" name="Text 17"/>
          <p:cNvSpPr/>
          <p:nvPr/>
        </p:nvSpPr>
        <p:spPr>
          <a:xfrm>
            <a:off x="731520" y="3886200"/>
            <a:ext cx="3566160" cy="77724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LLMProvider 统一抽象层</a:t>
            </a:r>
            <a:endParaRPr lang="en-US" sz="1152" dirty="0"/>
          </a:p>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Summary Agent：智能摘要生成</a:t>
            </a:r>
            <a:endParaRPr lang="en-US" sz="1152" dirty="0"/>
          </a:p>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Translation Agent：多语言翻译</a:t>
            </a:r>
            <a:endParaRPr lang="en-US" sz="1152" dirty="0"/>
          </a:p>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AI 结果持久化存储与展示</a:t>
            </a:r>
            <a:endParaRPr lang="en-US" sz="1152" dirty="0"/>
          </a:p>
        </p:txBody>
      </p:sp>
      <p:sp>
        <p:nvSpPr>
          <p:cNvPr id="21" name="Shape 18"/>
          <p:cNvSpPr/>
          <p:nvPr/>
        </p:nvSpPr>
        <p:spPr>
          <a:xfrm>
            <a:off x="4663440" y="3200400"/>
            <a:ext cx="3931920" cy="1554480"/>
          </a:xfrm>
          <a:custGeom>
            <a:avLst/>
            <a:gdLst/>
            <a:ahLst/>
            <a:cxnLst/>
            <a:rect l="l" t="t" r="r" b="b"/>
            <a:pathLst>
              <a:path w="3931920" h="1554480">
                <a:moveTo>
                  <a:pt x="0" y="0"/>
                </a:moveTo>
                <a:lnTo>
                  <a:pt x="3931920" y="0"/>
                </a:lnTo>
                <a:lnTo>
                  <a:pt x="3931920" y="1554480"/>
                </a:lnTo>
                <a:lnTo>
                  <a:pt x="0" y="1554480"/>
                </a:lnTo>
                <a:close/>
              </a:path>
            </a:pathLst>
          </a:custGeom>
          <a:solidFill>
            <a:srgbClr val="F3E5F5"/>
          </a:solidFill>
          <a:ln/>
        </p:spPr>
      </p:sp>
      <p:sp>
        <p:nvSpPr>
          <p:cNvPr id="22" name="Shape 19"/>
          <p:cNvSpPr/>
          <p:nvPr/>
        </p:nvSpPr>
        <p:spPr>
          <a:xfrm>
            <a:off x="4663440" y="3200400"/>
            <a:ext cx="822960" cy="292608"/>
          </a:xfrm>
          <a:custGeom>
            <a:avLst/>
            <a:gdLst/>
            <a:ahLst/>
            <a:cxnLst/>
            <a:rect l="l" t="t" r="r" b="b"/>
            <a:pathLst>
              <a:path w="822960" h="292608">
                <a:moveTo>
                  <a:pt x="0" y="0"/>
                </a:moveTo>
                <a:lnTo>
                  <a:pt x="822960" y="0"/>
                </a:lnTo>
                <a:lnTo>
                  <a:pt x="822960" y="292608"/>
                </a:lnTo>
                <a:lnTo>
                  <a:pt x="0" y="292608"/>
                </a:lnTo>
                <a:close/>
              </a:path>
            </a:pathLst>
          </a:custGeom>
          <a:solidFill>
            <a:srgbClr val="7B1FA2"/>
          </a:solidFill>
          <a:ln/>
        </p:spPr>
      </p:sp>
      <p:sp>
        <p:nvSpPr>
          <p:cNvPr id="23" name="Text 20"/>
          <p:cNvSpPr/>
          <p:nvPr/>
        </p:nvSpPr>
        <p:spPr>
          <a:xfrm>
            <a:off x="4681728" y="3200400"/>
            <a:ext cx="786384" cy="29260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FFFFFF"/>
                </a:solidFill>
                <a:latin typeface="Microsoft YaHei" pitchFamily="34" charset="0"/>
                <a:ea typeface="Microsoft YaHei" pitchFamily="34" charset="-122"/>
                <a:cs typeface="Microsoft YaHei" pitchFamily="34" charset="-120"/>
              </a:rPr>
              <a:t>模块 D</a:t>
            </a:r>
            <a:endParaRPr lang="en-US" sz="1152" dirty="0"/>
          </a:p>
        </p:txBody>
      </p:sp>
      <p:sp>
        <p:nvSpPr>
          <p:cNvPr id="24" name="Text 21"/>
          <p:cNvSpPr/>
          <p:nvPr/>
        </p:nvSpPr>
        <p:spPr>
          <a:xfrm>
            <a:off x="4846320" y="3520440"/>
            <a:ext cx="356616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7B1FA2"/>
                </a:solidFill>
                <a:latin typeface="Microsoft YaHei" pitchFamily="34" charset="0"/>
                <a:ea typeface="Microsoft YaHei" pitchFamily="34" charset="-122"/>
                <a:cs typeface="Microsoft YaHei" pitchFamily="34" charset="-120"/>
              </a:rPr>
              <a:t>管理与配置中心</a:t>
            </a:r>
            <a:endParaRPr lang="en-US" sz="1152" dirty="0"/>
          </a:p>
        </p:txBody>
      </p:sp>
      <p:sp>
        <p:nvSpPr>
          <p:cNvPr id="25" name="Text 22"/>
          <p:cNvSpPr/>
          <p:nvPr/>
        </p:nvSpPr>
        <p:spPr>
          <a:xfrm>
            <a:off x="4846320" y="3886200"/>
            <a:ext cx="3566160" cy="77724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标签 CRUD 与多维筛选</a:t>
            </a:r>
            <a:endParaRPr lang="en-US" sz="1152" dirty="0"/>
          </a:p>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单篇 Markdown 导出</a:t>
            </a:r>
            <a:endParaRPr lang="en-US" sz="1152" dirty="0"/>
          </a:p>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LLM 模型配置管理页面</a:t>
            </a:r>
            <a:endParaRPr lang="en-US" sz="1152" dirty="0"/>
          </a:p>
          <a:p>
            <a:pPr indent="0" marL="0">
              <a:lnSpc>
                <a:spcPct val="120000"/>
              </a:lnSpc>
              <a:spcBef>
                <a:spcPts val="360"/>
              </a:spcBef>
              <a:buNone/>
            </a:pPr>
            <a:r>
              <a:rPr lang="en-US" sz="1008" dirty="0">
                <a:solidFill>
                  <a:srgbClr val="444444"/>
                </a:solidFill>
                <a:latin typeface="Microsoft YaHei" pitchFamily="34" charset="0"/>
                <a:ea typeface="Microsoft YaHei" pitchFamily="34" charset="-122"/>
                <a:cs typeface="Microsoft YaHei" pitchFamily="34" charset="-120"/>
              </a:rPr>
              <a:t>• 全局应用设置（偏好/缓存）</a:t>
            </a:r>
            <a:endParaRPr lang="en-US" sz="1152" dirty="0"/>
          </a:p>
        </p:txBody>
      </p:sp>
      <p:sp>
        <p:nvSpPr>
          <p:cNvPr id="26" name="Shape 23"/>
          <p:cNvSpPr/>
          <p:nvPr/>
        </p:nvSpPr>
        <p:spPr>
          <a:xfrm>
            <a:off x="1828800" y="4892040"/>
            <a:ext cx="5486400" cy="18288"/>
          </a:xfrm>
          <a:custGeom>
            <a:avLst/>
            <a:gdLst/>
            <a:ahLst/>
            <a:cxnLst/>
            <a:rect l="l" t="t" r="r" b="b"/>
            <a:pathLst>
              <a:path w="5486400" h="18288">
                <a:moveTo>
                  <a:pt x="0" y="0"/>
                </a:moveTo>
                <a:lnTo>
                  <a:pt x="5486400" y="0"/>
                </a:lnTo>
                <a:lnTo>
                  <a:pt x="5486400" y="18288"/>
                </a:lnTo>
                <a:lnTo>
                  <a:pt x="0" y="18288"/>
                </a:lnTo>
                <a:close/>
              </a:path>
            </a:pathLst>
          </a:custGeom>
          <a:solidFill>
            <a:srgbClr val="2B579A"/>
          </a:solidFill>
          <a:ln/>
        </p:spPr>
      </p:sp>
      <p:sp>
        <p:nvSpPr>
          <p:cNvPr id="27" name="Text 24"/>
          <p:cNvSpPr/>
          <p:nvPr/>
        </p:nvSpPr>
        <p:spPr>
          <a:xfrm>
            <a:off x="2286000" y="4937760"/>
            <a:ext cx="4572000" cy="20116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864" dirty="0">
                <a:solidFill>
                  <a:srgbClr val="999999"/>
                </a:solidFill>
                <a:latin typeface="Microsoft YaHei" pitchFamily="34" charset="0"/>
                <a:ea typeface="Microsoft YaHei" pitchFamily="34" charset="-122"/>
                <a:cs typeface="Microsoft YaHei" pitchFamily="34" charset="-120"/>
              </a:rPr>
              <a:t>所有模块定义清晰 Service 接口签名，确保对接规范</a:t>
            </a:r>
            <a:endParaRPr lang="en-US" sz="1152"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6">
    <p:bg>
      <p:bgPr>
        <a:solidFill>
          <a:srgbClr val="1A1A2E"/>
        </a:solidFill>
      </p:bgPr>
    </p:bg>
    <p:spTree>
      <p:nvGrpSpPr>
        <p:cNvPr id="1" name=""/>
        <p:cNvGrpSpPr/>
        <p:nvPr/>
      </p:nvGrpSpPr>
      <p:grpSpPr>
        <a:xfrm>
          <a:off x="0" y="0"/>
          <a:ext cx="0" cy="0"/>
          <a:chOff x="0" y="0"/>
          <a:chExt cx="0" cy="0"/>
        </a:xfrm>
      </p:grpSpPr>
      <p:sp>
        <p:nvSpPr>
          <p:cNvPr id="3" name="Shape 0"/>
          <p:cNvSpPr/>
          <p:nvPr/>
        </p:nvSpPr>
        <p:spPr>
          <a:xfrm>
            <a:off x="457200" y="365760"/>
            <a:ext cx="8229600" cy="512064"/>
          </a:xfrm>
          <a:custGeom>
            <a:avLst/>
            <a:gdLst/>
            <a:ahLst/>
            <a:cxnLst/>
            <a:rect l="l" t="t" r="r" b="b"/>
            <a:pathLst>
              <a:path w="8229600" h="512064">
                <a:moveTo>
                  <a:pt x="0" y="0"/>
                </a:moveTo>
                <a:lnTo>
                  <a:pt x="8229600" y="0"/>
                </a:lnTo>
                <a:lnTo>
                  <a:pt x="8229600" y="512064"/>
                </a:lnTo>
                <a:lnTo>
                  <a:pt x="0" y="512064"/>
                </a:lnTo>
                <a:close/>
              </a:path>
            </a:pathLst>
          </a:custGeom>
          <a:solidFill>
            <a:srgbClr val="16213E"/>
          </a:solidFill>
          <a:ln/>
        </p:spPr>
      </p:sp>
      <p:sp>
        <p:nvSpPr>
          <p:cNvPr id="4" name="Text 1"/>
          <p:cNvSpPr/>
          <p:nvPr/>
        </p:nvSpPr>
        <p:spPr>
          <a:xfrm>
            <a:off x="548640" y="384048"/>
            <a:ext cx="8046720" cy="47548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2016" b="1" dirty="0">
                <a:solidFill>
                  <a:srgbClr val="E0E0E0"/>
                </a:solidFill>
                <a:latin typeface="Microsoft YaHei" pitchFamily="34" charset="0"/>
                <a:ea typeface="Microsoft YaHei" pitchFamily="34" charset="-122"/>
                <a:cs typeface="Microsoft YaHei" pitchFamily="34" charset="-120"/>
              </a:rPr>
              <a:t>模块依赖关系与并行开发策略</a:t>
            </a:r>
            <a:endParaRPr lang="en-US" sz="1152" dirty="0"/>
          </a:p>
        </p:txBody>
      </p:sp>
      <p:sp>
        <p:nvSpPr>
          <p:cNvPr id="5" name="Shape 2"/>
          <p:cNvSpPr/>
          <p:nvPr/>
        </p:nvSpPr>
        <p:spPr>
          <a:xfrm>
            <a:off x="548640" y="1097280"/>
            <a:ext cx="1554480" cy="640080"/>
          </a:xfrm>
          <a:custGeom>
            <a:avLst/>
            <a:gdLst/>
            <a:ahLst/>
            <a:cxnLst/>
            <a:rect l="l" t="t" r="r" b="b"/>
            <a:pathLst>
              <a:path w="1554480" h="640080">
                <a:moveTo>
                  <a:pt x="0" y="0"/>
                </a:moveTo>
                <a:lnTo>
                  <a:pt x="1554480" y="0"/>
                </a:lnTo>
                <a:lnTo>
                  <a:pt x="1554480" y="640080"/>
                </a:lnTo>
                <a:lnTo>
                  <a:pt x="0" y="640080"/>
                </a:lnTo>
                <a:close/>
              </a:path>
            </a:pathLst>
          </a:custGeom>
          <a:solidFill>
            <a:srgbClr val="0F3460"/>
          </a:solidFill>
          <a:ln/>
        </p:spPr>
      </p:sp>
      <p:sp>
        <p:nvSpPr>
          <p:cNvPr id="6" name="Text 3"/>
          <p:cNvSpPr/>
          <p:nvPr/>
        </p:nvSpPr>
        <p:spPr>
          <a:xfrm>
            <a:off x="640080" y="1161288"/>
            <a:ext cx="137160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E0E0E0"/>
                </a:solidFill>
                <a:latin typeface="Microsoft YaHei" pitchFamily="34" charset="0"/>
                <a:ea typeface="Microsoft YaHei" pitchFamily="34" charset="-122"/>
                <a:cs typeface="Microsoft YaHei" pitchFamily="34" charset="-120"/>
              </a:rPr>
              <a:t>模块 A</a:t>
            </a:r>
            <a:endParaRPr lang="en-US" sz="1152" dirty="0"/>
          </a:p>
          <a:p>
            <a:pPr algn="ctr" indent="0" marL="0">
              <a:lnSpc>
                <a:spcPct val="120000"/>
              </a:lnSpc>
              <a:spcBef>
                <a:spcPts val="360"/>
              </a:spcBef>
              <a:buNone/>
            </a:pPr>
            <a:r>
              <a:rPr lang="en-US" sz="1008" dirty="0">
                <a:solidFill>
                  <a:srgbClr val="82B1FF"/>
                </a:solidFill>
                <a:latin typeface="Microsoft YaHei" pitchFamily="34" charset="0"/>
                <a:ea typeface="Microsoft YaHei" pitchFamily="34" charset="-122"/>
                <a:cs typeface="Microsoft YaHei" pitchFamily="34" charset="-120"/>
              </a:rPr>
              <a:t>抓取 raw HTML</a:t>
            </a:r>
            <a:endParaRPr lang="en-US" sz="1152" dirty="0"/>
          </a:p>
        </p:txBody>
      </p:sp>
      <p:sp>
        <p:nvSpPr>
          <p:cNvPr id="7" name="Shape 4"/>
          <p:cNvSpPr/>
          <p:nvPr/>
        </p:nvSpPr>
        <p:spPr>
          <a:xfrm>
            <a:off x="2103120" y="1417320"/>
            <a:ext cx="640080" cy="0"/>
          </a:xfrm>
          <a:custGeom>
            <a:avLst/>
            <a:gdLst/>
            <a:ahLst/>
            <a:cxnLst/>
            <a:rect l="l" t="t" r="r" b="b"/>
            <a:pathLst>
              <a:path w="640080" h="0">
                <a:moveTo>
                  <a:pt x="0" y="0"/>
                </a:moveTo>
                <a:lnTo>
                  <a:pt x="640080" y="0"/>
                </a:lnTo>
              </a:path>
            </a:pathLst>
          </a:custGeom>
          <a:noFill/>
          <a:ln w="27432">
            <a:solidFill>
              <a:srgbClr val="53A8B6"/>
            </a:solidFill>
            <a:prstDash val="solid"/>
            <a:headEnd type="none"/>
            <a:tailEnd type="arrow"/>
          </a:ln>
        </p:spPr>
      </p:sp>
      <p:sp>
        <p:nvSpPr>
          <p:cNvPr id="8" name="Text 5"/>
          <p:cNvSpPr/>
          <p:nvPr/>
        </p:nvSpPr>
        <p:spPr>
          <a:xfrm>
            <a:off x="2148840" y="1078992"/>
            <a:ext cx="54864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792" dirty="0">
                <a:solidFill>
                  <a:srgbClr val="53A8B6"/>
                </a:solidFill>
                <a:latin typeface="Microsoft YaHei" pitchFamily="34" charset="0"/>
                <a:ea typeface="Microsoft YaHei" pitchFamily="34" charset="-122"/>
                <a:cs typeface="Microsoft YaHei" pitchFamily="34" charset="-120"/>
              </a:rPr>
              <a:t>raw HTML</a:t>
            </a:r>
            <a:endParaRPr lang="en-US" sz="1152" dirty="0"/>
          </a:p>
        </p:txBody>
      </p:sp>
      <p:sp>
        <p:nvSpPr>
          <p:cNvPr id="9" name="Shape 6"/>
          <p:cNvSpPr/>
          <p:nvPr/>
        </p:nvSpPr>
        <p:spPr>
          <a:xfrm>
            <a:off x="2743200" y="1097280"/>
            <a:ext cx="1554480" cy="640080"/>
          </a:xfrm>
          <a:custGeom>
            <a:avLst/>
            <a:gdLst/>
            <a:ahLst/>
            <a:cxnLst/>
            <a:rect l="l" t="t" r="r" b="b"/>
            <a:pathLst>
              <a:path w="1554480" h="640080">
                <a:moveTo>
                  <a:pt x="0" y="0"/>
                </a:moveTo>
                <a:lnTo>
                  <a:pt x="1554480" y="0"/>
                </a:lnTo>
                <a:lnTo>
                  <a:pt x="1554480" y="640080"/>
                </a:lnTo>
                <a:lnTo>
                  <a:pt x="0" y="640080"/>
                </a:lnTo>
                <a:close/>
              </a:path>
            </a:pathLst>
          </a:custGeom>
          <a:solidFill>
            <a:srgbClr val="0F3460"/>
          </a:solidFill>
          <a:ln/>
        </p:spPr>
      </p:sp>
      <p:sp>
        <p:nvSpPr>
          <p:cNvPr id="10" name="Text 7"/>
          <p:cNvSpPr/>
          <p:nvPr/>
        </p:nvSpPr>
        <p:spPr>
          <a:xfrm>
            <a:off x="2834640" y="1161288"/>
            <a:ext cx="137160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E0E0E0"/>
                </a:solidFill>
                <a:latin typeface="Microsoft YaHei" pitchFamily="34" charset="0"/>
                <a:ea typeface="Microsoft YaHei" pitchFamily="34" charset="-122"/>
                <a:cs typeface="Microsoft YaHei" pitchFamily="34" charset="-120"/>
              </a:rPr>
              <a:t>模块 B</a:t>
            </a:r>
            <a:endParaRPr lang="en-US" sz="1152" dirty="0"/>
          </a:p>
          <a:p>
            <a:pPr algn="ctr" indent="0" marL="0">
              <a:lnSpc>
                <a:spcPct val="120000"/>
              </a:lnSpc>
              <a:spcBef>
                <a:spcPts val="360"/>
              </a:spcBef>
              <a:buNone/>
            </a:pPr>
            <a:r>
              <a:rPr lang="en-US" sz="1008" dirty="0">
                <a:solidFill>
                  <a:srgbClr val="82B1FF"/>
                </a:solidFill>
                <a:latin typeface="Microsoft YaHei" pitchFamily="34" charset="0"/>
                <a:ea typeface="Microsoft YaHei" pitchFamily="34" charset="-122"/>
                <a:cs typeface="Microsoft YaHei" pitchFamily="34" charset="-120"/>
              </a:rPr>
              <a:t>清洗 → Markdown</a:t>
            </a:r>
            <a:endParaRPr lang="en-US" sz="1152" dirty="0"/>
          </a:p>
        </p:txBody>
      </p:sp>
      <p:sp>
        <p:nvSpPr>
          <p:cNvPr id="11" name="Shape 8"/>
          <p:cNvSpPr/>
          <p:nvPr/>
        </p:nvSpPr>
        <p:spPr>
          <a:xfrm>
            <a:off x="4297680" y="1417320"/>
            <a:ext cx="640080" cy="0"/>
          </a:xfrm>
          <a:custGeom>
            <a:avLst/>
            <a:gdLst/>
            <a:ahLst/>
            <a:cxnLst/>
            <a:rect l="l" t="t" r="r" b="b"/>
            <a:pathLst>
              <a:path w="640080" h="0">
                <a:moveTo>
                  <a:pt x="0" y="0"/>
                </a:moveTo>
                <a:lnTo>
                  <a:pt x="640080" y="0"/>
                </a:lnTo>
              </a:path>
            </a:pathLst>
          </a:custGeom>
          <a:noFill/>
          <a:ln w="27432">
            <a:solidFill>
              <a:srgbClr val="53A8B6"/>
            </a:solidFill>
            <a:prstDash val="solid"/>
            <a:headEnd type="none"/>
            <a:tailEnd type="arrow"/>
          </a:ln>
        </p:spPr>
      </p:sp>
      <p:sp>
        <p:nvSpPr>
          <p:cNvPr id="12" name="Text 9"/>
          <p:cNvSpPr/>
          <p:nvPr/>
        </p:nvSpPr>
        <p:spPr>
          <a:xfrm>
            <a:off x="4297680" y="1078992"/>
            <a:ext cx="6858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792" dirty="0">
                <a:solidFill>
                  <a:srgbClr val="53A8B6"/>
                </a:solidFill>
                <a:latin typeface="Microsoft YaHei" pitchFamily="34" charset="0"/>
                <a:ea typeface="Microsoft YaHei" pitchFamily="34" charset="-122"/>
                <a:cs typeface="Microsoft YaHei" pitchFamily="34" charset="-120"/>
              </a:rPr>
              <a:t>cleaned MD</a:t>
            </a:r>
            <a:endParaRPr lang="en-US" sz="1152" dirty="0"/>
          </a:p>
        </p:txBody>
      </p:sp>
      <p:sp>
        <p:nvSpPr>
          <p:cNvPr id="13" name="Shape 10"/>
          <p:cNvSpPr/>
          <p:nvPr/>
        </p:nvSpPr>
        <p:spPr>
          <a:xfrm>
            <a:off x="4937760" y="1097280"/>
            <a:ext cx="1554480" cy="640080"/>
          </a:xfrm>
          <a:custGeom>
            <a:avLst/>
            <a:gdLst/>
            <a:ahLst/>
            <a:cxnLst/>
            <a:rect l="l" t="t" r="r" b="b"/>
            <a:pathLst>
              <a:path w="1554480" h="640080">
                <a:moveTo>
                  <a:pt x="0" y="0"/>
                </a:moveTo>
                <a:lnTo>
                  <a:pt x="1554480" y="0"/>
                </a:lnTo>
                <a:lnTo>
                  <a:pt x="1554480" y="640080"/>
                </a:lnTo>
                <a:lnTo>
                  <a:pt x="0" y="640080"/>
                </a:lnTo>
                <a:close/>
              </a:path>
            </a:pathLst>
          </a:custGeom>
          <a:solidFill>
            <a:srgbClr val="0F3460"/>
          </a:solidFill>
          <a:ln/>
        </p:spPr>
      </p:sp>
      <p:sp>
        <p:nvSpPr>
          <p:cNvPr id="14" name="Text 11"/>
          <p:cNvSpPr/>
          <p:nvPr/>
        </p:nvSpPr>
        <p:spPr>
          <a:xfrm>
            <a:off x="5029200" y="1161288"/>
            <a:ext cx="137160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E0E0E0"/>
                </a:solidFill>
                <a:latin typeface="Microsoft YaHei" pitchFamily="34" charset="0"/>
                <a:ea typeface="Microsoft YaHei" pitchFamily="34" charset="-122"/>
                <a:cs typeface="Microsoft YaHei" pitchFamily="34" charset="-120"/>
              </a:rPr>
              <a:t>模块 C</a:t>
            </a:r>
            <a:endParaRPr lang="en-US" sz="1152" dirty="0"/>
          </a:p>
          <a:p>
            <a:pPr algn="ctr" indent="0" marL="0">
              <a:lnSpc>
                <a:spcPct val="120000"/>
              </a:lnSpc>
              <a:spcBef>
                <a:spcPts val="360"/>
              </a:spcBef>
              <a:buNone/>
            </a:pPr>
            <a:r>
              <a:rPr lang="en-US" sz="1008" dirty="0">
                <a:solidFill>
                  <a:srgbClr val="82B1FF"/>
                </a:solidFill>
                <a:latin typeface="Microsoft YaHei" pitchFamily="34" charset="0"/>
                <a:ea typeface="Microsoft YaHei" pitchFamily="34" charset="-122"/>
                <a:cs typeface="Microsoft YaHei" pitchFamily="34" charset="-120"/>
              </a:rPr>
              <a:t>摘要 / 翻译</a:t>
            </a:r>
            <a:endParaRPr lang="en-US" sz="1152" dirty="0"/>
          </a:p>
        </p:txBody>
      </p:sp>
      <p:sp>
        <p:nvSpPr>
          <p:cNvPr id="15" name="Shape 12"/>
          <p:cNvSpPr/>
          <p:nvPr/>
        </p:nvSpPr>
        <p:spPr>
          <a:xfrm>
            <a:off x="7132320" y="1097280"/>
            <a:ext cx="1463040" cy="640080"/>
          </a:xfrm>
          <a:custGeom>
            <a:avLst/>
            <a:gdLst/>
            <a:ahLst/>
            <a:cxnLst/>
            <a:rect l="l" t="t" r="r" b="b"/>
            <a:pathLst>
              <a:path w="1463040" h="640080">
                <a:moveTo>
                  <a:pt x="0" y="0"/>
                </a:moveTo>
                <a:lnTo>
                  <a:pt x="1463040" y="0"/>
                </a:lnTo>
                <a:lnTo>
                  <a:pt x="1463040" y="640080"/>
                </a:lnTo>
                <a:lnTo>
                  <a:pt x="0" y="640080"/>
                </a:lnTo>
                <a:close/>
              </a:path>
            </a:pathLst>
          </a:custGeom>
          <a:solidFill>
            <a:srgbClr val="1A1A40"/>
          </a:solidFill>
          <a:ln/>
        </p:spPr>
      </p:sp>
      <p:sp>
        <p:nvSpPr>
          <p:cNvPr id="16" name="Text 13"/>
          <p:cNvSpPr/>
          <p:nvPr/>
        </p:nvSpPr>
        <p:spPr>
          <a:xfrm>
            <a:off x="7223760" y="1161288"/>
            <a:ext cx="128016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E0E0E0"/>
                </a:solidFill>
                <a:latin typeface="Microsoft YaHei" pitchFamily="34" charset="0"/>
                <a:ea typeface="Microsoft YaHei" pitchFamily="34" charset="-122"/>
                <a:cs typeface="Microsoft YaHei" pitchFamily="34" charset="-120"/>
              </a:rPr>
              <a:t>模块 D</a:t>
            </a:r>
            <a:endParaRPr lang="en-US" sz="1152" dirty="0"/>
          </a:p>
          <a:p>
            <a:pPr algn="ctr" indent="0" marL="0">
              <a:lnSpc>
                <a:spcPct val="120000"/>
              </a:lnSpc>
              <a:spcBef>
                <a:spcPts val="360"/>
              </a:spcBef>
              <a:buNone/>
            </a:pPr>
            <a:r>
              <a:rPr lang="en-US" sz="1008" dirty="0">
                <a:solidFill>
                  <a:srgbClr val="F0A500"/>
                </a:solidFill>
                <a:latin typeface="Microsoft YaHei" pitchFamily="34" charset="0"/>
                <a:ea typeface="Microsoft YaHei" pitchFamily="34" charset="-122"/>
                <a:cs typeface="Microsoft YaHei" pitchFamily="34" charset="-120"/>
              </a:rPr>
              <a:t>LLM 配置</a:t>
            </a:r>
            <a:endParaRPr lang="en-US" sz="1152" dirty="0"/>
          </a:p>
        </p:txBody>
      </p:sp>
      <p:sp>
        <p:nvSpPr>
          <p:cNvPr id="17" name="Shape 14"/>
          <p:cNvSpPr/>
          <p:nvPr/>
        </p:nvSpPr>
        <p:spPr>
          <a:xfrm>
            <a:off x="7132320" y="1417320"/>
            <a:ext cx="0" cy="0"/>
          </a:xfrm>
          <a:custGeom>
            <a:avLst/>
            <a:gdLst/>
            <a:ahLst/>
            <a:cxnLst/>
            <a:rect l="l" t="t" r="r" b="b"/>
            <a:pathLst>
              <a:path w="0" h="0">
                <a:moveTo>
                  <a:pt x="0" y="0"/>
                </a:moveTo>
                <a:lnTo>
                  <a:pt x="-640080" y="0"/>
                </a:lnTo>
              </a:path>
            </a:pathLst>
          </a:custGeom>
          <a:noFill/>
          <a:ln w="27432">
            <a:solidFill>
              <a:srgbClr val="F0A500"/>
            </a:solidFill>
            <a:prstDash val="dash"/>
            <a:headEnd type="none"/>
            <a:tailEnd type="arrow"/>
          </a:ln>
        </p:spPr>
      </p:sp>
      <p:sp>
        <p:nvSpPr>
          <p:cNvPr id="18" name="Text 15"/>
          <p:cNvSpPr/>
          <p:nvPr/>
        </p:nvSpPr>
        <p:spPr>
          <a:xfrm>
            <a:off x="6537960" y="1078992"/>
            <a:ext cx="64008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792" dirty="0">
                <a:solidFill>
                  <a:srgbClr val="F0A500"/>
                </a:solidFill>
                <a:latin typeface="Microsoft YaHei" pitchFamily="34" charset="0"/>
                <a:ea typeface="Microsoft YaHei" pitchFamily="34" charset="-122"/>
                <a:cs typeface="Microsoft YaHei" pitchFamily="34" charset="-120"/>
              </a:rPr>
              <a:t>LLM 配置</a:t>
            </a:r>
            <a:endParaRPr lang="en-US" sz="1152" dirty="0"/>
          </a:p>
        </p:txBody>
      </p:sp>
      <p:sp>
        <p:nvSpPr>
          <p:cNvPr id="19" name="Shape 16"/>
          <p:cNvSpPr/>
          <p:nvPr/>
        </p:nvSpPr>
        <p:spPr>
          <a:xfrm>
            <a:off x="3474720" y="1965960"/>
            <a:ext cx="1828800" cy="457200"/>
          </a:xfrm>
          <a:custGeom>
            <a:avLst/>
            <a:gdLst/>
            <a:ahLst/>
            <a:cxnLst/>
            <a:rect l="l" t="t" r="r" b="b"/>
            <a:pathLst>
              <a:path w="1828800" h="457200">
                <a:moveTo>
                  <a:pt x="0" y="0"/>
                </a:moveTo>
                <a:lnTo>
                  <a:pt x="1828800" y="0"/>
                </a:lnTo>
                <a:lnTo>
                  <a:pt x="1828800" y="457200"/>
                </a:lnTo>
                <a:lnTo>
                  <a:pt x="0" y="457200"/>
                </a:lnTo>
                <a:close/>
              </a:path>
            </a:pathLst>
          </a:custGeom>
          <a:solidFill>
            <a:srgbClr val="533483"/>
          </a:solidFill>
          <a:ln/>
        </p:spPr>
      </p:sp>
      <p:sp>
        <p:nvSpPr>
          <p:cNvPr id="20" name="Text 17"/>
          <p:cNvSpPr/>
          <p:nvPr/>
        </p:nvSpPr>
        <p:spPr>
          <a:xfrm>
            <a:off x="3566160" y="2011680"/>
            <a:ext cx="16459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80" b="1" dirty="0">
                <a:solidFill>
                  <a:srgbClr val="E0E0E0"/>
                </a:solidFill>
                <a:latin typeface="Microsoft YaHei" pitchFamily="34" charset="0"/>
                <a:ea typeface="Microsoft YaHei" pitchFamily="34" charset="-122"/>
                <a:cs typeface="Microsoft YaHei" pitchFamily="34" charset="-120"/>
              </a:rPr>
              <a:t>导出功能</a:t>
            </a:r>
            <a:endParaRPr lang="en-US" sz="1152" dirty="0"/>
          </a:p>
        </p:txBody>
      </p:sp>
      <p:sp>
        <p:nvSpPr>
          <p:cNvPr id="21" name="Shape 18"/>
          <p:cNvSpPr/>
          <p:nvPr/>
        </p:nvSpPr>
        <p:spPr>
          <a:xfrm>
            <a:off x="3520440" y="1737360"/>
            <a:ext cx="274320" cy="228600"/>
          </a:xfrm>
          <a:custGeom>
            <a:avLst/>
            <a:gdLst/>
            <a:ahLst/>
            <a:cxnLst/>
            <a:rect l="l" t="t" r="r" b="b"/>
            <a:pathLst>
              <a:path w="274320" h="228600">
                <a:moveTo>
                  <a:pt x="0" y="0"/>
                </a:moveTo>
                <a:lnTo>
                  <a:pt x="274320" y="228600"/>
                </a:lnTo>
              </a:path>
            </a:pathLst>
          </a:custGeom>
          <a:noFill/>
          <a:ln w="27432">
            <a:solidFill>
              <a:srgbClr val="B57BEE"/>
            </a:solidFill>
            <a:prstDash val="dash"/>
            <a:headEnd type="none"/>
            <a:tailEnd type="arrow"/>
          </a:ln>
        </p:spPr>
      </p:sp>
      <p:sp>
        <p:nvSpPr>
          <p:cNvPr id="22" name="Shape 19"/>
          <p:cNvSpPr/>
          <p:nvPr/>
        </p:nvSpPr>
        <p:spPr>
          <a:xfrm>
            <a:off x="5715000" y="1737360"/>
            <a:ext cx="0" cy="228600"/>
          </a:xfrm>
          <a:custGeom>
            <a:avLst/>
            <a:gdLst/>
            <a:ahLst/>
            <a:cxnLst/>
            <a:rect l="l" t="t" r="r" b="b"/>
            <a:pathLst>
              <a:path w="0" h="228600">
                <a:moveTo>
                  <a:pt x="0" y="0"/>
                </a:moveTo>
                <a:lnTo>
                  <a:pt x="-457200" y="228600"/>
                </a:lnTo>
              </a:path>
            </a:pathLst>
          </a:custGeom>
          <a:noFill/>
          <a:ln w="27432">
            <a:solidFill>
              <a:srgbClr val="B57BEE"/>
            </a:solidFill>
            <a:prstDash val="dash"/>
            <a:headEnd type="none"/>
            <a:tailEnd type="arrow"/>
          </a:ln>
        </p:spPr>
      </p:sp>
      <p:sp>
        <p:nvSpPr>
          <p:cNvPr id="23" name="Text 20"/>
          <p:cNvSpPr/>
          <p:nvPr/>
        </p:nvSpPr>
        <p:spPr>
          <a:xfrm>
            <a:off x="3730752" y="1783080"/>
            <a:ext cx="137160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792" dirty="0">
                <a:solidFill>
                  <a:srgbClr val="B57BEE"/>
                </a:solidFill>
                <a:latin typeface="Microsoft YaHei" pitchFamily="34" charset="0"/>
                <a:ea typeface="Microsoft YaHei" pitchFamily="34" charset="-122"/>
                <a:cs typeface="Microsoft YaHei" pitchFamily="34" charset="-120"/>
              </a:rPr>
              <a:t>依赖 B + C 数据</a:t>
            </a:r>
            <a:endParaRPr lang="en-US" sz="1152" dirty="0"/>
          </a:p>
        </p:txBody>
      </p:sp>
      <p:sp>
        <p:nvSpPr>
          <p:cNvPr id="24" name="Shape 21"/>
          <p:cNvSpPr/>
          <p:nvPr/>
        </p:nvSpPr>
        <p:spPr>
          <a:xfrm>
            <a:off x="548640" y="2606040"/>
            <a:ext cx="8046720" cy="9144"/>
          </a:xfrm>
          <a:custGeom>
            <a:avLst/>
            <a:gdLst/>
            <a:ahLst/>
            <a:cxnLst/>
            <a:rect l="l" t="t" r="r" b="b"/>
            <a:pathLst>
              <a:path w="8046720" h="9144">
                <a:moveTo>
                  <a:pt x="0" y="0"/>
                </a:moveTo>
                <a:lnTo>
                  <a:pt x="8046720" y="0"/>
                </a:lnTo>
                <a:lnTo>
                  <a:pt x="8046720" y="9144"/>
                </a:lnTo>
                <a:lnTo>
                  <a:pt x="0" y="9144"/>
                </a:lnTo>
                <a:close/>
              </a:path>
            </a:pathLst>
          </a:custGeom>
          <a:solidFill>
            <a:srgbClr val="333366"/>
          </a:solidFill>
          <a:ln/>
        </p:spPr>
      </p:sp>
      <p:sp>
        <p:nvSpPr>
          <p:cNvPr id="25" name="Text 22"/>
          <p:cNvSpPr/>
          <p:nvPr/>
        </p:nvSpPr>
        <p:spPr>
          <a:xfrm>
            <a:off x="548640" y="2697480"/>
            <a:ext cx="804672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F0A500"/>
                </a:solidFill>
                <a:latin typeface="Microsoft YaHei" pitchFamily="34" charset="0"/>
                <a:ea typeface="Microsoft YaHei" pitchFamily="34" charset="-122"/>
                <a:cs typeface="Microsoft YaHei" pitchFamily="34" charset="-120"/>
              </a:rPr>
              <a:t>▎</a:t>
            </a:r>
            <a:pPr indent="0" marL="0">
              <a:lnSpc>
                <a:spcPct val="120000"/>
              </a:lnSpc>
              <a:spcBef>
                <a:spcPts val="360"/>
              </a:spcBef>
              <a:buNone/>
            </a:pPr>
            <a:r>
              <a:rPr lang="en-US" sz="1440" b="1" dirty="0">
                <a:solidFill>
                  <a:srgbClr val="E0E0E0"/>
                </a:solidFill>
                <a:latin typeface="Microsoft YaHei" pitchFamily="34" charset="0"/>
                <a:ea typeface="Microsoft YaHei" pitchFamily="34" charset="-122"/>
                <a:cs typeface="Microsoft YaHei" pitchFamily="34" charset="-120"/>
              </a:rPr>
              <a:t>并行开发策略</a:t>
            </a:r>
            <a:endParaRPr lang="en-US" sz="1152" dirty="0"/>
          </a:p>
        </p:txBody>
      </p:sp>
      <p:sp>
        <p:nvSpPr>
          <p:cNvPr id="26" name="Shape 23"/>
          <p:cNvSpPr/>
          <p:nvPr/>
        </p:nvSpPr>
        <p:spPr>
          <a:xfrm>
            <a:off x="548640" y="3200400"/>
            <a:ext cx="1828800" cy="822960"/>
          </a:xfrm>
          <a:custGeom>
            <a:avLst/>
            <a:gdLst/>
            <a:ahLst/>
            <a:cxnLst/>
            <a:rect l="l" t="t" r="r" b="b"/>
            <a:pathLst>
              <a:path w="1828800" h="822960">
                <a:moveTo>
                  <a:pt x="0" y="0"/>
                </a:moveTo>
                <a:lnTo>
                  <a:pt x="1828800" y="0"/>
                </a:lnTo>
                <a:lnTo>
                  <a:pt x="1828800" y="822960"/>
                </a:lnTo>
                <a:lnTo>
                  <a:pt x="0" y="822960"/>
                </a:lnTo>
                <a:close/>
              </a:path>
            </a:pathLst>
          </a:custGeom>
          <a:solidFill>
            <a:srgbClr val="16213E"/>
          </a:solidFill>
          <a:ln/>
        </p:spPr>
      </p:sp>
      <p:sp>
        <p:nvSpPr>
          <p:cNvPr id="27" name="Text 24"/>
          <p:cNvSpPr/>
          <p:nvPr/>
        </p:nvSpPr>
        <p:spPr>
          <a:xfrm>
            <a:off x="640080" y="3218688"/>
            <a:ext cx="16459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53A8B6"/>
                </a:solidFill>
                <a:latin typeface="Microsoft YaHei" pitchFamily="34" charset="0"/>
                <a:ea typeface="Microsoft YaHei" pitchFamily="34" charset="-122"/>
                <a:cs typeface="Microsoft YaHei" pitchFamily="34" charset="-120"/>
              </a:rPr>
              <a:t>第 1 周</a:t>
            </a:r>
            <a:endParaRPr lang="en-US" sz="1152" dirty="0"/>
          </a:p>
        </p:txBody>
      </p:sp>
      <p:sp>
        <p:nvSpPr>
          <p:cNvPr id="28" name="Text 25"/>
          <p:cNvSpPr/>
          <p:nvPr/>
        </p:nvSpPr>
        <p:spPr>
          <a:xfrm>
            <a:off x="640080" y="3584448"/>
            <a:ext cx="16459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936" dirty="0">
                <a:solidFill>
                  <a:srgbClr val="AAAACC"/>
                </a:solidFill>
                <a:latin typeface="Microsoft YaHei" pitchFamily="34" charset="0"/>
                <a:ea typeface="Microsoft YaHei" pitchFamily="34" charset="-122"/>
                <a:cs typeface="Microsoft YaHei" pitchFamily="34" charset="-120"/>
              </a:rPr>
              <a:t>预定义 Service 接口签名</a:t>
            </a:r>
            <a:endParaRPr lang="en-US" sz="1152" dirty="0"/>
          </a:p>
        </p:txBody>
      </p:sp>
      <p:sp>
        <p:nvSpPr>
          <p:cNvPr id="29" name="Shape 26"/>
          <p:cNvSpPr/>
          <p:nvPr/>
        </p:nvSpPr>
        <p:spPr>
          <a:xfrm>
            <a:off x="2377440" y="3611880"/>
            <a:ext cx="365760" cy="0"/>
          </a:xfrm>
          <a:custGeom>
            <a:avLst/>
            <a:gdLst/>
            <a:ahLst/>
            <a:cxnLst/>
            <a:rect l="l" t="t" r="r" b="b"/>
            <a:pathLst>
              <a:path w="365760" h="0">
                <a:moveTo>
                  <a:pt x="0" y="0"/>
                </a:moveTo>
                <a:lnTo>
                  <a:pt x="365760" y="0"/>
                </a:lnTo>
              </a:path>
            </a:pathLst>
          </a:custGeom>
          <a:noFill/>
          <a:ln w="27432">
            <a:solidFill>
              <a:srgbClr val="53A8B6"/>
            </a:solidFill>
            <a:prstDash val="solid"/>
            <a:headEnd type="none"/>
            <a:tailEnd type="arrow"/>
          </a:ln>
        </p:spPr>
      </p:sp>
      <p:sp>
        <p:nvSpPr>
          <p:cNvPr id="30" name="Shape 27"/>
          <p:cNvSpPr/>
          <p:nvPr/>
        </p:nvSpPr>
        <p:spPr>
          <a:xfrm>
            <a:off x="2743200" y="3200400"/>
            <a:ext cx="1828800" cy="822960"/>
          </a:xfrm>
          <a:custGeom>
            <a:avLst/>
            <a:gdLst/>
            <a:ahLst/>
            <a:cxnLst/>
            <a:rect l="l" t="t" r="r" b="b"/>
            <a:pathLst>
              <a:path w="1828800" h="822960">
                <a:moveTo>
                  <a:pt x="0" y="0"/>
                </a:moveTo>
                <a:lnTo>
                  <a:pt x="1828800" y="0"/>
                </a:lnTo>
                <a:lnTo>
                  <a:pt x="1828800" y="822960"/>
                </a:lnTo>
                <a:lnTo>
                  <a:pt x="0" y="822960"/>
                </a:lnTo>
                <a:close/>
              </a:path>
            </a:pathLst>
          </a:custGeom>
          <a:solidFill>
            <a:srgbClr val="16213E"/>
          </a:solidFill>
          <a:ln/>
        </p:spPr>
      </p:sp>
      <p:sp>
        <p:nvSpPr>
          <p:cNvPr id="31" name="Text 28"/>
          <p:cNvSpPr/>
          <p:nvPr/>
        </p:nvSpPr>
        <p:spPr>
          <a:xfrm>
            <a:off x="2834640" y="3218688"/>
            <a:ext cx="16459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53A8B6"/>
                </a:solidFill>
                <a:latin typeface="Microsoft YaHei" pitchFamily="34" charset="0"/>
                <a:ea typeface="Microsoft YaHei" pitchFamily="34" charset="-122"/>
                <a:cs typeface="Microsoft YaHei" pitchFamily="34" charset="-120"/>
              </a:rPr>
              <a:t>第 2 周</a:t>
            </a:r>
            <a:endParaRPr lang="en-US" sz="1152" dirty="0"/>
          </a:p>
        </p:txBody>
      </p:sp>
      <p:sp>
        <p:nvSpPr>
          <p:cNvPr id="32" name="Text 29"/>
          <p:cNvSpPr/>
          <p:nvPr/>
        </p:nvSpPr>
        <p:spPr>
          <a:xfrm>
            <a:off x="2834640" y="3584448"/>
            <a:ext cx="16459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936" dirty="0">
                <a:solidFill>
                  <a:srgbClr val="AAAACC"/>
                </a:solidFill>
                <a:latin typeface="Microsoft YaHei" pitchFamily="34" charset="0"/>
                <a:ea typeface="Microsoft YaHei" pitchFamily="34" charset="-122"/>
                <a:cs typeface="Microsoft YaHei" pitchFamily="34" charset="-120"/>
              </a:rPr>
              <a:t>mock 数据独立开发</a:t>
            </a:r>
            <a:endParaRPr lang="en-US" sz="1152" dirty="0"/>
          </a:p>
        </p:txBody>
      </p:sp>
      <p:sp>
        <p:nvSpPr>
          <p:cNvPr id="33" name="Shape 30"/>
          <p:cNvSpPr/>
          <p:nvPr/>
        </p:nvSpPr>
        <p:spPr>
          <a:xfrm>
            <a:off x="4572000" y="3611880"/>
            <a:ext cx="365760" cy="0"/>
          </a:xfrm>
          <a:custGeom>
            <a:avLst/>
            <a:gdLst/>
            <a:ahLst/>
            <a:cxnLst/>
            <a:rect l="l" t="t" r="r" b="b"/>
            <a:pathLst>
              <a:path w="365760" h="0">
                <a:moveTo>
                  <a:pt x="0" y="0"/>
                </a:moveTo>
                <a:lnTo>
                  <a:pt x="365760" y="0"/>
                </a:lnTo>
              </a:path>
            </a:pathLst>
          </a:custGeom>
          <a:noFill/>
          <a:ln w="27432">
            <a:solidFill>
              <a:srgbClr val="53A8B6"/>
            </a:solidFill>
            <a:prstDash val="solid"/>
            <a:headEnd type="none"/>
            <a:tailEnd type="arrow"/>
          </a:ln>
        </p:spPr>
      </p:sp>
      <p:sp>
        <p:nvSpPr>
          <p:cNvPr id="34" name="Shape 31"/>
          <p:cNvSpPr/>
          <p:nvPr/>
        </p:nvSpPr>
        <p:spPr>
          <a:xfrm>
            <a:off x="4937760" y="3200400"/>
            <a:ext cx="1828800" cy="822960"/>
          </a:xfrm>
          <a:custGeom>
            <a:avLst/>
            <a:gdLst/>
            <a:ahLst/>
            <a:cxnLst/>
            <a:rect l="l" t="t" r="r" b="b"/>
            <a:pathLst>
              <a:path w="1828800" h="822960">
                <a:moveTo>
                  <a:pt x="0" y="0"/>
                </a:moveTo>
                <a:lnTo>
                  <a:pt x="1828800" y="0"/>
                </a:lnTo>
                <a:lnTo>
                  <a:pt x="1828800" y="822960"/>
                </a:lnTo>
                <a:lnTo>
                  <a:pt x="0" y="822960"/>
                </a:lnTo>
                <a:close/>
              </a:path>
            </a:pathLst>
          </a:custGeom>
          <a:solidFill>
            <a:srgbClr val="16213E"/>
          </a:solidFill>
          <a:ln/>
        </p:spPr>
      </p:sp>
      <p:sp>
        <p:nvSpPr>
          <p:cNvPr id="35" name="Text 32"/>
          <p:cNvSpPr/>
          <p:nvPr/>
        </p:nvSpPr>
        <p:spPr>
          <a:xfrm>
            <a:off x="5029200" y="3218688"/>
            <a:ext cx="16459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53A8B6"/>
                </a:solidFill>
                <a:latin typeface="Microsoft YaHei" pitchFamily="34" charset="0"/>
                <a:ea typeface="Microsoft YaHei" pitchFamily="34" charset="-122"/>
                <a:cs typeface="Microsoft YaHei" pitchFamily="34" charset="-120"/>
              </a:rPr>
              <a:t>第 3 周</a:t>
            </a:r>
            <a:endParaRPr lang="en-US" sz="1152" dirty="0"/>
          </a:p>
        </p:txBody>
      </p:sp>
      <p:sp>
        <p:nvSpPr>
          <p:cNvPr id="36" name="Text 33"/>
          <p:cNvSpPr/>
          <p:nvPr/>
        </p:nvSpPr>
        <p:spPr>
          <a:xfrm>
            <a:off x="5029200" y="3584448"/>
            <a:ext cx="16459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936" dirty="0">
                <a:solidFill>
                  <a:srgbClr val="AAAACC"/>
                </a:solidFill>
                <a:latin typeface="Microsoft YaHei" pitchFamily="34" charset="0"/>
                <a:ea typeface="Microsoft YaHei" pitchFamily="34" charset="-122"/>
                <a:cs typeface="Microsoft YaHei" pitchFamily="34" charset="-120"/>
              </a:rPr>
              <a:t>真实接口对接</a:t>
            </a:r>
            <a:endParaRPr lang="en-US" sz="1152" dirty="0"/>
          </a:p>
        </p:txBody>
      </p:sp>
      <p:sp>
        <p:nvSpPr>
          <p:cNvPr id="37" name="Shape 34"/>
          <p:cNvSpPr/>
          <p:nvPr/>
        </p:nvSpPr>
        <p:spPr>
          <a:xfrm>
            <a:off x="6766560" y="3611880"/>
            <a:ext cx="365760" cy="0"/>
          </a:xfrm>
          <a:custGeom>
            <a:avLst/>
            <a:gdLst/>
            <a:ahLst/>
            <a:cxnLst/>
            <a:rect l="l" t="t" r="r" b="b"/>
            <a:pathLst>
              <a:path w="365760" h="0">
                <a:moveTo>
                  <a:pt x="0" y="0"/>
                </a:moveTo>
                <a:lnTo>
                  <a:pt x="365760" y="0"/>
                </a:lnTo>
              </a:path>
            </a:pathLst>
          </a:custGeom>
          <a:noFill/>
          <a:ln w="27432">
            <a:solidFill>
              <a:srgbClr val="53A8B6"/>
            </a:solidFill>
            <a:prstDash val="solid"/>
            <a:headEnd type="none"/>
            <a:tailEnd type="arrow"/>
          </a:ln>
        </p:spPr>
      </p:sp>
      <p:sp>
        <p:nvSpPr>
          <p:cNvPr id="38" name="Shape 35"/>
          <p:cNvSpPr/>
          <p:nvPr/>
        </p:nvSpPr>
        <p:spPr>
          <a:xfrm>
            <a:off x="7132320" y="3200400"/>
            <a:ext cx="1463040" cy="822960"/>
          </a:xfrm>
          <a:custGeom>
            <a:avLst/>
            <a:gdLst/>
            <a:ahLst/>
            <a:cxnLst/>
            <a:rect l="l" t="t" r="r" b="b"/>
            <a:pathLst>
              <a:path w="1463040" h="822960">
                <a:moveTo>
                  <a:pt x="0" y="0"/>
                </a:moveTo>
                <a:lnTo>
                  <a:pt x="1463040" y="0"/>
                </a:lnTo>
                <a:lnTo>
                  <a:pt x="1463040" y="822960"/>
                </a:lnTo>
                <a:lnTo>
                  <a:pt x="0" y="822960"/>
                </a:lnTo>
                <a:close/>
              </a:path>
            </a:pathLst>
          </a:custGeom>
          <a:solidFill>
            <a:srgbClr val="16213E"/>
          </a:solidFill>
          <a:ln/>
        </p:spPr>
      </p:sp>
      <p:sp>
        <p:nvSpPr>
          <p:cNvPr id="39" name="Text 36"/>
          <p:cNvSpPr/>
          <p:nvPr/>
        </p:nvSpPr>
        <p:spPr>
          <a:xfrm>
            <a:off x="7223760" y="3218688"/>
            <a:ext cx="128016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53A8B6"/>
                </a:solidFill>
                <a:latin typeface="Microsoft YaHei" pitchFamily="34" charset="0"/>
                <a:ea typeface="Microsoft YaHei" pitchFamily="34" charset="-122"/>
                <a:cs typeface="Microsoft YaHei" pitchFamily="34" charset="-120"/>
              </a:rPr>
              <a:t>第 4 周</a:t>
            </a:r>
            <a:endParaRPr lang="en-US" sz="1152" dirty="0"/>
          </a:p>
        </p:txBody>
      </p:sp>
      <p:sp>
        <p:nvSpPr>
          <p:cNvPr id="40" name="Text 37"/>
          <p:cNvSpPr/>
          <p:nvPr/>
        </p:nvSpPr>
        <p:spPr>
          <a:xfrm>
            <a:off x="7223760" y="3584448"/>
            <a:ext cx="128016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936" dirty="0">
                <a:solidFill>
                  <a:srgbClr val="AAAACC"/>
                </a:solidFill>
                <a:latin typeface="Microsoft YaHei" pitchFamily="34" charset="0"/>
                <a:ea typeface="Microsoft YaHei" pitchFamily="34" charset="-122"/>
                <a:cs typeface="Microsoft YaHei" pitchFamily="34" charset="-120"/>
              </a:rPr>
              <a:t>跨模块联调</a:t>
            </a:r>
            <a:endParaRPr lang="en-US" sz="1152" dirty="0"/>
          </a:p>
        </p:txBody>
      </p:sp>
      <p:sp>
        <p:nvSpPr>
          <p:cNvPr id="41" name="Shape 38"/>
          <p:cNvSpPr/>
          <p:nvPr/>
        </p:nvSpPr>
        <p:spPr>
          <a:xfrm>
            <a:off x="548640" y="4279392"/>
            <a:ext cx="146304" cy="146304"/>
          </a:xfrm>
          <a:custGeom>
            <a:avLst/>
            <a:gdLst/>
            <a:ahLst/>
            <a:cxnLst/>
            <a:rect l="l" t="t" r="r" b="b"/>
            <a:pathLst>
              <a:path w="146304" h="146304">
                <a:moveTo>
                  <a:pt x="146304" y="73152"/>
                </a:moveTo>
                <a:cubicBezTo>
                  <a:pt x="146304" y="113526"/>
                  <a:pt x="113526" y="146304"/>
                  <a:pt x="73152" y="146304"/>
                </a:cubicBezTo>
                <a:cubicBezTo>
                  <a:pt x="32778" y="146304"/>
                  <a:pt x="0" y="113526"/>
                  <a:pt x="0" y="73152"/>
                </a:cubicBezTo>
                <a:cubicBezTo>
                  <a:pt x="0" y="32778"/>
                  <a:pt x="32778" y="0"/>
                  <a:pt x="73152" y="0"/>
                </a:cubicBezTo>
                <a:cubicBezTo>
                  <a:pt x="113526" y="0"/>
                  <a:pt x="146304" y="32778"/>
                  <a:pt x="146304" y="73152"/>
                </a:cubicBezTo>
                <a:close/>
              </a:path>
            </a:pathLst>
          </a:custGeom>
          <a:solidFill>
            <a:srgbClr val="F0A500"/>
          </a:solidFill>
          <a:ln/>
        </p:spPr>
      </p:sp>
      <p:sp>
        <p:nvSpPr>
          <p:cNvPr id="42" name="Text 39"/>
          <p:cNvSpPr/>
          <p:nvPr/>
        </p:nvSpPr>
        <p:spPr>
          <a:xfrm>
            <a:off x="768096" y="4206240"/>
            <a:ext cx="7827264"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F0A500"/>
                </a:solidFill>
                <a:latin typeface="Microsoft YaHei" pitchFamily="34" charset="0"/>
                <a:ea typeface="Microsoft YaHei" pitchFamily="34" charset="-122"/>
                <a:cs typeface="Microsoft YaHei" pitchFamily="34" charset="-120"/>
              </a:rPr>
              <a:t>关键策略</a:t>
            </a:r>
            <a:pPr indent="0" marL="0">
              <a:lnSpc>
                <a:spcPct val="120000"/>
              </a:lnSpc>
              <a:spcBef>
                <a:spcPts val="360"/>
              </a:spcBef>
              <a:buNone/>
            </a:pPr>
            <a:r>
              <a:rPr lang="en-US" sz="1008" dirty="0">
                <a:solidFill>
                  <a:srgbClr val="AAAACC"/>
                </a:solidFill>
                <a:latin typeface="Microsoft YaHei" pitchFamily="34" charset="0"/>
                <a:ea typeface="Microsoft YaHei" pitchFamily="34" charset="-122"/>
                <a:cs typeface="Microsoft YaHei" pitchFamily="34" charset="-120"/>
              </a:rPr>
              <a:t>：接口签名先行 → mock 数据并行 → 真实对接 → 联调收尾，降低跨模块阻塞风险</a:t>
            </a:r>
            <a:endParaRPr lang="en-US" sz="115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7">
    <p:bg>
      <p:bgPr>
        <a:solidFill>
          <a:srgbClr val="1A1A2E"/>
        </a:solidFill>
      </p:bgPr>
    </p:bg>
    <p:spTree>
      <p:nvGrpSpPr>
        <p:cNvPr id="1" name=""/>
        <p:cNvGrpSpPr/>
        <p:nvPr/>
      </p:nvGrpSpPr>
      <p:grpSpPr>
        <a:xfrm>
          <a:off x="0" y="0"/>
          <a:ext cx="0" cy="0"/>
          <a:chOff x="0" y="0"/>
          <a:chExt cx="0" cy="0"/>
        </a:xfrm>
      </p:grpSpPr>
      <p:sp>
        <p:nvSpPr>
          <p:cNvPr id="3" name="Shape 0"/>
          <p:cNvSpPr/>
          <p:nvPr/>
        </p:nvSpPr>
        <p:spPr>
          <a:xfrm>
            <a:off x="0" y="0"/>
            <a:ext cx="9144000" cy="54864"/>
          </a:xfrm>
          <a:custGeom>
            <a:avLst/>
            <a:gdLst/>
            <a:ahLst/>
            <a:cxnLst/>
            <a:rect l="l" t="t" r="r" b="b"/>
            <a:pathLst>
              <a:path w="9144000" h="54864">
                <a:moveTo>
                  <a:pt x="0" y="0"/>
                </a:moveTo>
                <a:lnTo>
                  <a:pt x="9144000" y="0"/>
                </a:lnTo>
                <a:lnTo>
                  <a:pt x="9144000" y="54864"/>
                </a:lnTo>
                <a:lnTo>
                  <a:pt x="0" y="54864"/>
                </a:lnTo>
                <a:close/>
              </a:path>
            </a:pathLst>
          </a:custGeom>
          <a:solidFill>
            <a:srgbClr val="4FC3F7"/>
          </a:solidFill>
          <a:ln/>
        </p:spPr>
      </p:sp>
      <p:sp>
        <p:nvSpPr>
          <p:cNvPr id="4" name="Text 1"/>
          <p:cNvSpPr/>
          <p:nvPr/>
        </p:nvSpPr>
        <p:spPr>
          <a:xfrm>
            <a:off x="548640" y="320040"/>
            <a:ext cx="8046720"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016" b="1" dirty="0">
                <a:solidFill>
                  <a:srgbClr val="FFFFFF"/>
                </a:solidFill>
                <a:latin typeface="Microsoft YaHei" pitchFamily="34" charset="0"/>
                <a:ea typeface="Microsoft YaHei" pitchFamily="34" charset="-122"/>
                <a:cs typeface="Microsoft YaHei" pitchFamily="34" charset="-120"/>
              </a:rPr>
              <a:t>当前进展</a:t>
            </a:r>
            <a:endParaRPr lang="en-US" sz="1152" dirty="0"/>
          </a:p>
        </p:txBody>
      </p:sp>
      <p:sp>
        <p:nvSpPr>
          <p:cNvPr id="5" name="Text 2"/>
          <p:cNvSpPr/>
          <p:nvPr/>
        </p:nvSpPr>
        <p:spPr>
          <a:xfrm>
            <a:off x="548640" y="822960"/>
            <a:ext cx="804672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8899AA"/>
                </a:solidFill>
                <a:latin typeface="Microsoft YaHei" pitchFamily="34" charset="0"/>
                <a:ea typeface="Microsoft YaHei" pitchFamily="34" charset="-122"/>
                <a:cs typeface="Microsoft YaHei" pitchFamily="34" charset="-120"/>
              </a:rPr>
              <a:t>项目开发进展与已完成里程碑一览</a:t>
            </a:r>
            <a:endParaRPr lang="en-US" sz="1152" dirty="0"/>
          </a:p>
        </p:txBody>
      </p:sp>
      <p:sp>
        <p:nvSpPr>
          <p:cNvPr id="6" name="Shape 3"/>
          <p:cNvSpPr/>
          <p:nvPr/>
        </p:nvSpPr>
        <p:spPr>
          <a:xfrm>
            <a:off x="548640" y="1188720"/>
            <a:ext cx="8046720" cy="18288"/>
          </a:xfrm>
          <a:custGeom>
            <a:avLst/>
            <a:gdLst/>
            <a:ahLst/>
            <a:cxnLst/>
            <a:rect l="l" t="t" r="r" b="b"/>
            <a:pathLst>
              <a:path w="8046720" h="18288">
                <a:moveTo>
                  <a:pt x="0" y="0"/>
                </a:moveTo>
                <a:lnTo>
                  <a:pt x="8046720" y="0"/>
                </a:lnTo>
                <a:lnTo>
                  <a:pt x="8046720" y="18288"/>
                </a:lnTo>
                <a:lnTo>
                  <a:pt x="0" y="18288"/>
                </a:lnTo>
                <a:close/>
              </a:path>
            </a:pathLst>
          </a:custGeom>
          <a:solidFill>
            <a:srgbClr val="2A2A4A"/>
          </a:solidFill>
          <a:ln/>
        </p:spPr>
      </p:sp>
      <p:sp>
        <p:nvSpPr>
          <p:cNvPr id="7" name="Shape 4"/>
          <p:cNvSpPr/>
          <p:nvPr/>
        </p:nvSpPr>
        <p:spPr>
          <a:xfrm>
            <a:off x="548640" y="1417320"/>
            <a:ext cx="3931920" cy="1325880"/>
          </a:xfrm>
          <a:custGeom>
            <a:avLst/>
            <a:gdLst/>
            <a:ahLst/>
            <a:cxnLst/>
            <a:rect l="l" t="t" r="r" b="b"/>
            <a:pathLst>
              <a:path w="3931920" h="1325880">
                <a:moveTo>
                  <a:pt x="0" y="0"/>
                </a:moveTo>
                <a:lnTo>
                  <a:pt x="3931920" y="0"/>
                </a:lnTo>
                <a:lnTo>
                  <a:pt x="3931920" y="1325880"/>
                </a:lnTo>
                <a:lnTo>
                  <a:pt x="0" y="1325880"/>
                </a:lnTo>
                <a:close/>
              </a:path>
            </a:pathLst>
          </a:custGeom>
          <a:solidFill>
            <a:srgbClr val="16213E"/>
          </a:solidFill>
          <a:ln/>
        </p:spPr>
      </p:sp>
      <p:sp>
        <p:nvSpPr>
          <p:cNvPr id="8" name="Shape 5"/>
          <p:cNvSpPr/>
          <p:nvPr/>
        </p:nvSpPr>
        <p:spPr>
          <a:xfrm>
            <a:off x="548640" y="1417320"/>
            <a:ext cx="45720" cy="1325880"/>
          </a:xfrm>
          <a:custGeom>
            <a:avLst/>
            <a:gdLst/>
            <a:ahLst/>
            <a:cxnLst/>
            <a:rect l="l" t="t" r="r" b="b"/>
            <a:pathLst>
              <a:path w="45720" h="1325880">
                <a:moveTo>
                  <a:pt x="0" y="0"/>
                </a:moveTo>
                <a:lnTo>
                  <a:pt x="45720" y="0"/>
                </a:lnTo>
                <a:lnTo>
                  <a:pt x="45720" y="1325880"/>
                </a:lnTo>
                <a:lnTo>
                  <a:pt x="0" y="1325880"/>
                </a:lnTo>
                <a:close/>
              </a:path>
            </a:pathLst>
          </a:custGeom>
          <a:solidFill>
            <a:srgbClr val="4FC3F7"/>
          </a:solidFill>
          <a:ln/>
        </p:spPr>
      </p:sp>
      <p:sp>
        <p:nvSpPr>
          <p:cNvPr id="9" name="Text 6"/>
          <p:cNvSpPr/>
          <p:nvPr/>
        </p:nvSpPr>
        <p:spPr>
          <a:xfrm>
            <a:off x="731520" y="1490472"/>
            <a:ext cx="457200"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016" b="1" dirty="0">
                <a:solidFill>
                  <a:srgbClr val="4FC3F7"/>
                </a:solidFill>
                <a:latin typeface="Microsoft YaHei" pitchFamily="34" charset="0"/>
                <a:ea typeface="Microsoft YaHei" pitchFamily="34" charset="-122"/>
                <a:cs typeface="Microsoft YaHei" pitchFamily="34" charset="-120"/>
              </a:rPr>
              <a:t>01</a:t>
            </a:r>
            <a:endParaRPr lang="en-US" sz="1152" dirty="0"/>
          </a:p>
        </p:txBody>
      </p:sp>
      <p:sp>
        <p:nvSpPr>
          <p:cNvPr id="10" name="Text 7"/>
          <p:cNvSpPr/>
          <p:nvPr/>
        </p:nvSpPr>
        <p:spPr>
          <a:xfrm>
            <a:off x="1188720" y="1508760"/>
            <a:ext cx="310896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FFFFFF"/>
                </a:solidFill>
                <a:latin typeface="Microsoft YaHei" pitchFamily="34" charset="0"/>
                <a:ea typeface="Microsoft YaHei" pitchFamily="34" charset="-122"/>
                <a:cs typeface="Microsoft YaHei" pitchFamily="34" charset="-120"/>
              </a:rPr>
              <a:t>Demo 骨架已完成</a:t>
            </a:r>
            <a:endParaRPr lang="en-US" sz="1152" dirty="0"/>
          </a:p>
        </p:txBody>
      </p:sp>
      <p:sp>
        <p:nvSpPr>
          <p:cNvPr id="11" name="Text 8"/>
          <p:cNvSpPr/>
          <p:nvPr/>
        </p:nvSpPr>
        <p:spPr>
          <a:xfrm>
            <a:off x="1188720" y="1874520"/>
            <a:ext cx="3108960" cy="77724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AABBCC"/>
                </a:solidFill>
                <a:latin typeface="Microsoft YaHei" pitchFamily="34" charset="0"/>
                <a:ea typeface="Microsoft YaHei" pitchFamily="34" charset="-122"/>
                <a:cs typeface="Microsoft YaHei" pitchFamily="34" charset="-120"/>
              </a:rPr>
              <a:t>• Electron + Vue3 三栏布局</a:t>
            </a:r>
            <a:endParaRPr lang="en-US" sz="1152" dirty="0"/>
          </a:p>
          <a:p>
            <a:pPr indent="0" marL="0">
              <a:lnSpc>
                <a:spcPct val="120000"/>
              </a:lnSpc>
              <a:spcBef>
                <a:spcPts val="360"/>
              </a:spcBef>
              <a:buNone/>
            </a:pPr>
            <a:r>
              <a:rPr lang="en-US" sz="1008" dirty="0">
                <a:solidFill>
                  <a:srgbClr val="AABBCC"/>
                </a:solidFill>
                <a:latin typeface="Microsoft YaHei" pitchFamily="34" charset="0"/>
                <a:ea typeface="Microsoft YaHei" pitchFamily="34" charset="-122"/>
                <a:cs typeface="Microsoft YaHei" pitchFamily="34" charset="-120"/>
              </a:rPr>
              <a:t>• SQLite 数据模型搭建</a:t>
            </a:r>
            <a:endParaRPr lang="en-US" sz="1152" dirty="0"/>
          </a:p>
          <a:p>
            <a:pPr indent="0" marL="0">
              <a:lnSpc>
                <a:spcPct val="120000"/>
              </a:lnSpc>
              <a:spcBef>
                <a:spcPts val="360"/>
              </a:spcBef>
              <a:buNone/>
            </a:pPr>
            <a:r>
              <a:rPr lang="en-US" sz="1008" dirty="0">
                <a:solidFill>
                  <a:srgbClr val="AABBCC"/>
                </a:solidFill>
                <a:latin typeface="Microsoft YaHei" pitchFamily="34" charset="0"/>
                <a:ea typeface="Microsoft YaHei" pitchFamily="34" charset="-122"/>
                <a:cs typeface="Microsoft YaHei" pitchFamily="34" charset="-120"/>
              </a:rPr>
              <a:t>• Service 接口定义完成</a:t>
            </a:r>
            <a:endParaRPr lang="en-US" sz="1152" dirty="0"/>
          </a:p>
        </p:txBody>
      </p:sp>
      <p:sp>
        <p:nvSpPr>
          <p:cNvPr id="12" name="Shape 9"/>
          <p:cNvSpPr/>
          <p:nvPr/>
        </p:nvSpPr>
        <p:spPr>
          <a:xfrm>
            <a:off x="4663440" y="1417320"/>
            <a:ext cx="3931920" cy="1325880"/>
          </a:xfrm>
          <a:custGeom>
            <a:avLst/>
            <a:gdLst/>
            <a:ahLst/>
            <a:cxnLst/>
            <a:rect l="l" t="t" r="r" b="b"/>
            <a:pathLst>
              <a:path w="3931920" h="1325880">
                <a:moveTo>
                  <a:pt x="0" y="0"/>
                </a:moveTo>
                <a:lnTo>
                  <a:pt x="3931920" y="0"/>
                </a:lnTo>
                <a:lnTo>
                  <a:pt x="3931920" y="1325880"/>
                </a:lnTo>
                <a:lnTo>
                  <a:pt x="0" y="1325880"/>
                </a:lnTo>
                <a:close/>
              </a:path>
            </a:pathLst>
          </a:custGeom>
          <a:solidFill>
            <a:srgbClr val="16213E"/>
          </a:solidFill>
          <a:ln/>
        </p:spPr>
      </p:sp>
      <p:sp>
        <p:nvSpPr>
          <p:cNvPr id="13" name="Shape 10"/>
          <p:cNvSpPr/>
          <p:nvPr/>
        </p:nvSpPr>
        <p:spPr>
          <a:xfrm>
            <a:off x="4663440" y="1417320"/>
            <a:ext cx="45720" cy="1325880"/>
          </a:xfrm>
          <a:custGeom>
            <a:avLst/>
            <a:gdLst/>
            <a:ahLst/>
            <a:cxnLst/>
            <a:rect l="l" t="t" r="r" b="b"/>
            <a:pathLst>
              <a:path w="45720" h="1325880">
                <a:moveTo>
                  <a:pt x="0" y="0"/>
                </a:moveTo>
                <a:lnTo>
                  <a:pt x="45720" y="0"/>
                </a:lnTo>
                <a:lnTo>
                  <a:pt x="45720" y="1325880"/>
                </a:lnTo>
                <a:lnTo>
                  <a:pt x="0" y="1325880"/>
                </a:lnTo>
                <a:close/>
              </a:path>
            </a:pathLst>
          </a:custGeom>
          <a:solidFill>
            <a:srgbClr val="66BB6A"/>
          </a:solidFill>
          <a:ln/>
        </p:spPr>
      </p:sp>
      <p:sp>
        <p:nvSpPr>
          <p:cNvPr id="14" name="Text 11"/>
          <p:cNvSpPr/>
          <p:nvPr/>
        </p:nvSpPr>
        <p:spPr>
          <a:xfrm>
            <a:off x="4846320" y="1490472"/>
            <a:ext cx="457200"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016" b="1" dirty="0">
                <a:solidFill>
                  <a:srgbClr val="66BB6A"/>
                </a:solidFill>
                <a:latin typeface="Microsoft YaHei" pitchFamily="34" charset="0"/>
                <a:ea typeface="Microsoft YaHei" pitchFamily="34" charset="-122"/>
                <a:cs typeface="Microsoft YaHei" pitchFamily="34" charset="-120"/>
              </a:rPr>
              <a:t>02</a:t>
            </a:r>
            <a:endParaRPr lang="en-US" sz="1152" dirty="0"/>
          </a:p>
        </p:txBody>
      </p:sp>
      <p:sp>
        <p:nvSpPr>
          <p:cNvPr id="15" name="Text 12"/>
          <p:cNvSpPr/>
          <p:nvPr/>
        </p:nvSpPr>
        <p:spPr>
          <a:xfrm>
            <a:off x="5303520" y="1508760"/>
            <a:ext cx="310896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FFFFFF"/>
                </a:solidFill>
                <a:latin typeface="Microsoft YaHei" pitchFamily="34" charset="0"/>
                <a:ea typeface="Microsoft YaHei" pitchFamily="34" charset="-122"/>
                <a:cs typeface="Microsoft YaHei" pitchFamily="34" charset="-120"/>
              </a:rPr>
              <a:t>协作规范已建立</a:t>
            </a:r>
            <a:endParaRPr lang="en-US" sz="1152" dirty="0"/>
          </a:p>
        </p:txBody>
      </p:sp>
      <p:sp>
        <p:nvSpPr>
          <p:cNvPr id="16" name="Text 13"/>
          <p:cNvSpPr/>
          <p:nvPr/>
        </p:nvSpPr>
        <p:spPr>
          <a:xfrm>
            <a:off x="5303520" y="1874520"/>
            <a:ext cx="3108960" cy="77724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AABBCC"/>
                </a:solidFill>
                <a:latin typeface="Microsoft YaHei" pitchFamily="34" charset="0"/>
                <a:ea typeface="Microsoft YaHei" pitchFamily="34" charset="-122"/>
                <a:cs typeface="Microsoft YaHei" pitchFamily="34" charset="-120"/>
              </a:rPr>
              <a:t>• Git 分支规范制定</a:t>
            </a:r>
            <a:endParaRPr lang="en-US" sz="1152" dirty="0"/>
          </a:p>
          <a:p>
            <a:pPr indent="0" marL="0">
              <a:lnSpc>
                <a:spcPct val="120000"/>
              </a:lnSpc>
              <a:spcBef>
                <a:spcPts val="360"/>
              </a:spcBef>
              <a:buNone/>
            </a:pPr>
            <a:r>
              <a:rPr lang="en-US" sz="1008" dirty="0">
                <a:solidFill>
                  <a:srgbClr val="AABBCC"/>
                </a:solidFill>
                <a:latin typeface="Microsoft YaHei" pitchFamily="34" charset="0"/>
                <a:ea typeface="Microsoft YaHei" pitchFamily="34" charset="-122"/>
                <a:cs typeface="Microsoft YaHei" pitchFamily="34" charset="-120"/>
              </a:rPr>
              <a:t>• PR 模板 &amp; Code Review 流程</a:t>
            </a:r>
            <a:endParaRPr lang="en-US" sz="1152" dirty="0"/>
          </a:p>
          <a:p>
            <a:pPr indent="0" marL="0">
              <a:lnSpc>
                <a:spcPct val="120000"/>
              </a:lnSpc>
              <a:spcBef>
                <a:spcPts val="360"/>
              </a:spcBef>
              <a:buNone/>
            </a:pPr>
            <a:r>
              <a:rPr lang="en-US" sz="1008" dirty="0">
                <a:solidFill>
                  <a:srgbClr val="AABBCC"/>
                </a:solidFill>
                <a:latin typeface="Microsoft YaHei" pitchFamily="34" charset="0"/>
                <a:ea typeface="Microsoft YaHei" pitchFamily="34" charset="-122"/>
                <a:cs typeface="Microsoft YaHei" pitchFamily="34" charset="-120"/>
              </a:rPr>
              <a:t>• 项目文档规范落地</a:t>
            </a:r>
            <a:endParaRPr lang="en-US" sz="1152" dirty="0"/>
          </a:p>
        </p:txBody>
      </p:sp>
      <p:sp>
        <p:nvSpPr>
          <p:cNvPr id="17" name="Shape 14"/>
          <p:cNvSpPr/>
          <p:nvPr/>
        </p:nvSpPr>
        <p:spPr>
          <a:xfrm>
            <a:off x="548640" y="2926080"/>
            <a:ext cx="3931920" cy="1325880"/>
          </a:xfrm>
          <a:custGeom>
            <a:avLst/>
            <a:gdLst/>
            <a:ahLst/>
            <a:cxnLst/>
            <a:rect l="l" t="t" r="r" b="b"/>
            <a:pathLst>
              <a:path w="3931920" h="1325880">
                <a:moveTo>
                  <a:pt x="0" y="0"/>
                </a:moveTo>
                <a:lnTo>
                  <a:pt x="3931920" y="0"/>
                </a:lnTo>
                <a:lnTo>
                  <a:pt x="3931920" y="1325880"/>
                </a:lnTo>
                <a:lnTo>
                  <a:pt x="0" y="1325880"/>
                </a:lnTo>
                <a:close/>
              </a:path>
            </a:pathLst>
          </a:custGeom>
          <a:solidFill>
            <a:srgbClr val="16213E"/>
          </a:solidFill>
          <a:ln/>
        </p:spPr>
      </p:sp>
      <p:sp>
        <p:nvSpPr>
          <p:cNvPr id="18" name="Shape 15"/>
          <p:cNvSpPr/>
          <p:nvPr/>
        </p:nvSpPr>
        <p:spPr>
          <a:xfrm>
            <a:off x="548640" y="2926080"/>
            <a:ext cx="45720" cy="1325880"/>
          </a:xfrm>
          <a:custGeom>
            <a:avLst/>
            <a:gdLst/>
            <a:ahLst/>
            <a:cxnLst/>
            <a:rect l="l" t="t" r="r" b="b"/>
            <a:pathLst>
              <a:path w="45720" h="1325880">
                <a:moveTo>
                  <a:pt x="0" y="0"/>
                </a:moveTo>
                <a:lnTo>
                  <a:pt x="45720" y="0"/>
                </a:lnTo>
                <a:lnTo>
                  <a:pt x="45720" y="1325880"/>
                </a:lnTo>
                <a:lnTo>
                  <a:pt x="0" y="1325880"/>
                </a:lnTo>
                <a:close/>
              </a:path>
            </a:pathLst>
          </a:custGeom>
          <a:solidFill>
            <a:srgbClr val="FFA726"/>
          </a:solidFill>
          <a:ln/>
        </p:spPr>
      </p:sp>
      <p:sp>
        <p:nvSpPr>
          <p:cNvPr id="19" name="Text 16"/>
          <p:cNvSpPr/>
          <p:nvPr/>
        </p:nvSpPr>
        <p:spPr>
          <a:xfrm>
            <a:off x="731520" y="2999232"/>
            <a:ext cx="457200"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016" b="1" dirty="0">
                <a:solidFill>
                  <a:srgbClr val="FFA726"/>
                </a:solidFill>
                <a:latin typeface="Microsoft YaHei" pitchFamily="34" charset="0"/>
                <a:ea typeface="Microsoft YaHei" pitchFamily="34" charset="-122"/>
                <a:cs typeface="Microsoft YaHei" pitchFamily="34" charset="-120"/>
              </a:rPr>
              <a:t>03</a:t>
            </a:r>
            <a:endParaRPr lang="en-US" sz="1152" dirty="0"/>
          </a:p>
        </p:txBody>
      </p:sp>
      <p:sp>
        <p:nvSpPr>
          <p:cNvPr id="20" name="Text 17"/>
          <p:cNvSpPr/>
          <p:nvPr/>
        </p:nvSpPr>
        <p:spPr>
          <a:xfrm>
            <a:off x="1188720" y="3017520"/>
            <a:ext cx="310896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FFFFFF"/>
                </a:solidFill>
                <a:latin typeface="Microsoft YaHei" pitchFamily="34" charset="0"/>
                <a:ea typeface="Microsoft YaHei" pitchFamily="34" charset="-122"/>
                <a:cs typeface="Microsoft YaHei" pitchFamily="34" charset="-120"/>
              </a:rPr>
              <a:t>各模块并行开发中</a:t>
            </a:r>
            <a:endParaRPr lang="en-US" sz="1152" dirty="0"/>
          </a:p>
        </p:txBody>
      </p:sp>
      <p:sp>
        <p:nvSpPr>
          <p:cNvPr id="21" name="Text 18"/>
          <p:cNvSpPr/>
          <p:nvPr/>
        </p:nvSpPr>
        <p:spPr>
          <a:xfrm>
            <a:off x="1188720" y="3383280"/>
            <a:ext cx="3108960" cy="77724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AABBCC"/>
                </a:solidFill>
                <a:latin typeface="Microsoft YaHei" pitchFamily="34" charset="0"/>
                <a:ea typeface="Microsoft YaHei" pitchFamily="34" charset="-122"/>
                <a:cs typeface="Microsoft YaHei" pitchFamily="34" charset="-120"/>
              </a:rPr>
              <a:t>• 模块拆分独立推进</a:t>
            </a:r>
            <a:endParaRPr lang="en-US" sz="1152" dirty="0"/>
          </a:p>
          <a:p>
            <a:pPr indent="0" marL="0">
              <a:lnSpc>
                <a:spcPct val="120000"/>
              </a:lnSpc>
              <a:spcBef>
                <a:spcPts val="360"/>
              </a:spcBef>
              <a:buNone/>
            </a:pPr>
            <a:r>
              <a:rPr lang="en-US" sz="1008" dirty="0">
                <a:solidFill>
                  <a:srgbClr val="AABBCC"/>
                </a:solidFill>
                <a:latin typeface="Microsoft YaHei" pitchFamily="34" charset="0"/>
                <a:ea typeface="Microsoft YaHei" pitchFamily="34" charset="-122"/>
                <a:cs typeface="Microsoft YaHei" pitchFamily="34" charset="-120"/>
              </a:rPr>
              <a:t>• 核心功能持续开发</a:t>
            </a:r>
            <a:endParaRPr lang="en-US" sz="1152" dirty="0"/>
          </a:p>
          <a:p>
            <a:pPr indent="0" marL="0">
              <a:lnSpc>
                <a:spcPct val="120000"/>
              </a:lnSpc>
              <a:spcBef>
                <a:spcPts val="360"/>
              </a:spcBef>
              <a:buNone/>
            </a:pPr>
            <a:r>
              <a:rPr lang="en-US" sz="1008" dirty="0">
                <a:solidFill>
                  <a:srgbClr val="AABBCC"/>
                </a:solidFill>
                <a:latin typeface="Microsoft YaHei" pitchFamily="34" charset="0"/>
                <a:ea typeface="Microsoft YaHei" pitchFamily="34" charset="-122"/>
                <a:cs typeface="Microsoft YaHei" pitchFamily="34" charset="-120"/>
              </a:rPr>
              <a:t>• 各端联调同步进行</a:t>
            </a:r>
            <a:endParaRPr lang="en-US" sz="1152" dirty="0"/>
          </a:p>
        </p:txBody>
      </p:sp>
      <p:sp>
        <p:nvSpPr>
          <p:cNvPr id="22" name="Shape 19"/>
          <p:cNvSpPr/>
          <p:nvPr/>
        </p:nvSpPr>
        <p:spPr>
          <a:xfrm>
            <a:off x="4663440" y="2926080"/>
            <a:ext cx="3931920" cy="1325880"/>
          </a:xfrm>
          <a:custGeom>
            <a:avLst/>
            <a:gdLst/>
            <a:ahLst/>
            <a:cxnLst/>
            <a:rect l="l" t="t" r="r" b="b"/>
            <a:pathLst>
              <a:path w="3931920" h="1325880">
                <a:moveTo>
                  <a:pt x="0" y="0"/>
                </a:moveTo>
                <a:lnTo>
                  <a:pt x="3931920" y="0"/>
                </a:lnTo>
                <a:lnTo>
                  <a:pt x="3931920" y="1325880"/>
                </a:lnTo>
                <a:lnTo>
                  <a:pt x="0" y="1325880"/>
                </a:lnTo>
                <a:close/>
              </a:path>
            </a:pathLst>
          </a:custGeom>
          <a:solidFill>
            <a:srgbClr val="16213E"/>
          </a:solidFill>
          <a:ln/>
        </p:spPr>
      </p:sp>
      <p:sp>
        <p:nvSpPr>
          <p:cNvPr id="23" name="Shape 20"/>
          <p:cNvSpPr/>
          <p:nvPr/>
        </p:nvSpPr>
        <p:spPr>
          <a:xfrm>
            <a:off x="4663440" y="2926080"/>
            <a:ext cx="45720" cy="1325880"/>
          </a:xfrm>
          <a:custGeom>
            <a:avLst/>
            <a:gdLst/>
            <a:ahLst/>
            <a:cxnLst/>
            <a:rect l="l" t="t" r="r" b="b"/>
            <a:pathLst>
              <a:path w="45720" h="1325880">
                <a:moveTo>
                  <a:pt x="0" y="0"/>
                </a:moveTo>
                <a:lnTo>
                  <a:pt x="45720" y="0"/>
                </a:lnTo>
                <a:lnTo>
                  <a:pt x="45720" y="1325880"/>
                </a:lnTo>
                <a:lnTo>
                  <a:pt x="0" y="1325880"/>
                </a:lnTo>
                <a:close/>
              </a:path>
            </a:pathLst>
          </a:custGeom>
          <a:solidFill>
            <a:srgbClr val="EF5350"/>
          </a:solidFill>
          <a:ln/>
        </p:spPr>
      </p:sp>
      <p:sp>
        <p:nvSpPr>
          <p:cNvPr id="24" name="Text 21"/>
          <p:cNvSpPr/>
          <p:nvPr/>
        </p:nvSpPr>
        <p:spPr>
          <a:xfrm>
            <a:off x="4846320" y="2999232"/>
            <a:ext cx="457200"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016" b="1" dirty="0">
                <a:solidFill>
                  <a:srgbClr val="EF5350"/>
                </a:solidFill>
                <a:latin typeface="Microsoft YaHei" pitchFamily="34" charset="0"/>
                <a:ea typeface="Microsoft YaHei" pitchFamily="34" charset="-122"/>
                <a:cs typeface="Microsoft YaHei" pitchFamily="34" charset="-120"/>
              </a:rPr>
              <a:t>04</a:t>
            </a:r>
            <a:endParaRPr lang="en-US" sz="1152" dirty="0"/>
          </a:p>
        </p:txBody>
      </p:sp>
      <p:sp>
        <p:nvSpPr>
          <p:cNvPr id="25" name="Text 22"/>
          <p:cNvSpPr/>
          <p:nvPr/>
        </p:nvSpPr>
        <p:spPr>
          <a:xfrm>
            <a:off x="5303520" y="3017520"/>
            <a:ext cx="310896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FFFFFF"/>
                </a:solidFill>
                <a:latin typeface="Microsoft YaHei" pitchFamily="34" charset="0"/>
                <a:ea typeface="Microsoft YaHei" pitchFamily="34" charset="-122"/>
                <a:cs typeface="Microsoft YaHei" pitchFamily="34" charset="-120"/>
              </a:rPr>
              <a:t>验收标准明确</a:t>
            </a:r>
            <a:endParaRPr lang="en-US" sz="1152" dirty="0"/>
          </a:p>
        </p:txBody>
      </p:sp>
      <p:sp>
        <p:nvSpPr>
          <p:cNvPr id="26" name="Text 23"/>
          <p:cNvSpPr/>
          <p:nvPr/>
        </p:nvSpPr>
        <p:spPr>
          <a:xfrm>
            <a:off x="5303520" y="3383280"/>
            <a:ext cx="3108960" cy="77724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AABBCC"/>
                </a:solidFill>
                <a:latin typeface="Microsoft YaHei" pitchFamily="34" charset="0"/>
                <a:ea typeface="Microsoft YaHei" pitchFamily="34" charset="-122"/>
                <a:cs typeface="Microsoft YaHei" pitchFamily="34" charset="-120"/>
              </a:rPr>
              <a:t>• OPML 导入 → 刷新 → 阅读</a:t>
            </a:r>
            <a:endParaRPr lang="en-US" sz="1152" dirty="0"/>
          </a:p>
          <a:p>
            <a:pPr indent="0" marL="0">
              <a:lnSpc>
                <a:spcPct val="120000"/>
              </a:lnSpc>
              <a:spcBef>
                <a:spcPts val="360"/>
              </a:spcBef>
              <a:buNone/>
            </a:pPr>
            <a:r>
              <a:rPr lang="en-US" sz="1008" dirty="0">
                <a:solidFill>
                  <a:srgbClr val="AABBCC"/>
                </a:solidFill>
                <a:latin typeface="Microsoft YaHei" pitchFamily="34" charset="0"/>
                <a:ea typeface="Microsoft YaHei" pitchFamily="34" charset="-122"/>
                <a:cs typeface="Microsoft YaHei" pitchFamily="34" charset="-120"/>
              </a:rPr>
              <a:t>• AI 摘要 / 翻译流程贯通</a:t>
            </a:r>
            <a:endParaRPr lang="en-US" sz="1152" dirty="0"/>
          </a:p>
          <a:p>
            <a:pPr indent="0" marL="0">
              <a:lnSpc>
                <a:spcPct val="120000"/>
              </a:lnSpc>
              <a:spcBef>
                <a:spcPts val="360"/>
              </a:spcBef>
              <a:buNone/>
            </a:pPr>
            <a:r>
              <a:rPr lang="en-US" sz="1008" dirty="0">
                <a:solidFill>
                  <a:srgbClr val="AABBCC"/>
                </a:solidFill>
                <a:latin typeface="Microsoft YaHei" pitchFamily="34" charset="0"/>
                <a:ea typeface="Microsoft YaHei" pitchFamily="34" charset="-122"/>
                <a:cs typeface="Microsoft YaHei" pitchFamily="34" charset="-120"/>
              </a:rPr>
              <a:t>• 标签 → 导出 全链路跑通</a:t>
            </a:r>
            <a:endParaRPr lang="en-US" sz="1152" dirty="0"/>
          </a:p>
        </p:txBody>
      </p:sp>
      <p:sp>
        <p:nvSpPr>
          <p:cNvPr id="27" name="Shape 24"/>
          <p:cNvSpPr/>
          <p:nvPr/>
        </p:nvSpPr>
        <p:spPr>
          <a:xfrm>
            <a:off x="548640" y="4480560"/>
            <a:ext cx="8046720" cy="9144"/>
          </a:xfrm>
          <a:custGeom>
            <a:avLst/>
            <a:gdLst/>
            <a:ahLst/>
            <a:cxnLst/>
            <a:rect l="l" t="t" r="r" b="b"/>
            <a:pathLst>
              <a:path w="8046720" h="9144">
                <a:moveTo>
                  <a:pt x="0" y="0"/>
                </a:moveTo>
                <a:lnTo>
                  <a:pt x="8046720" y="0"/>
                </a:lnTo>
                <a:lnTo>
                  <a:pt x="8046720" y="9144"/>
                </a:lnTo>
                <a:lnTo>
                  <a:pt x="0" y="9144"/>
                </a:lnTo>
                <a:close/>
              </a:path>
            </a:pathLst>
          </a:custGeom>
          <a:solidFill>
            <a:srgbClr val="2A2A4A"/>
          </a:solidFill>
          <a:ln/>
        </p:spPr>
      </p:sp>
      <p:sp>
        <p:nvSpPr>
          <p:cNvPr id="28" name="Text 25"/>
          <p:cNvSpPr/>
          <p:nvPr/>
        </p:nvSpPr>
        <p:spPr>
          <a:xfrm>
            <a:off x="548640" y="4553712"/>
            <a:ext cx="80467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556677"/>
                </a:solidFill>
                <a:latin typeface="Microsoft YaHei" pitchFamily="34" charset="0"/>
                <a:ea typeface="Microsoft YaHei" pitchFamily="34" charset="-122"/>
                <a:cs typeface="Microsoft YaHei" pitchFamily="34" charset="-120"/>
              </a:rPr>
              <a:t>目标：端到端全链路功能验证通过</a:t>
            </a:r>
            <a:endParaRPr lang="en-US" sz="115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8">
    <p:bg>
      <p:bgPr>
        <a:solidFill>
          <a:srgbClr val="1A1A2E"/>
        </a:solidFill>
      </p:bgPr>
    </p:bg>
    <p:spTree>
      <p:nvGrpSpPr>
        <p:cNvPr id="1" name=""/>
        <p:cNvGrpSpPr/>
        <p:nvPr/>
      </p:nvGrpSpPr>
      <p:grpSpPr>
        <a:xfrm>
          <a:off x="0" y="0"/>
          <a:ext cx="0" cy="0"/>
          <a:chOff x="0" y="0"/>
          <a:chExt cx="0" cy="0"/>
        </a:xfrm>
      </p:grpSpPr>
      <p:sp>
        <p:nvSpPr>
          <p:cNvPr id="3" name="Shape 0"/>
          <p:cNvSpPr/>
          <p:nvPr/>
        </p:nvSpPr>
        <p:spPr>
          <a:xfrm>
            <a:off x="0" y="0"/>
            <a:ext cx="9144000" cy="731520"/>
          </a:xfrm>
          <a:custGeom>
            <a:avLst/>
            <a:gdLst/>
            <a:ahLst/>
            <a:cxnLst/>
            <a:rect l="l" t="t" r="r" b="b"/>
            <a:pathLst>
              <a:path w="9144000" h="731520">
                <a:moveTo>
                  <a:pt x="0" y="0"/>
                </a:moveTo>
                <a:lnTo>
                  <a:pt x="9144000" y="0"/>
                </a:lnTo>
                <a:lnTo>
                  <a:pt x="9144000" y="731520"/>
                </a:lnTo>
                <a:lnTo>
                  <a:pt x="0" y="731520"/>
                </a:lnTo>
                <a:close/>
              </a:path>
            </a:pathLst>
          </a:custGeom>
          <a:solidFill>
            <a:srgbClr val="16213E"/>
          </a:solidFill>
          <a:ln/>
        </p:spPr>
      </p:sp>
      <p:sp>
        <p:nvSpPr>
          <p:cNvPr id="4" name="Text 1"/>
          <p:cNvSpPr/>
          <p:nvPr/>
        </p:nvSpPr>
        <p:spPr>
          <a:xfrm>
            <a:off x="548640" y="128016"/>
            <a:ext cx="548640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E94560"/>
                </a:solidFill>
                <a:latin typeface="Microsoft YaHei" pitchFamily="34" charset="0"/>
                <a:ea typeface="Microsoft YaHei" pitchFamily="34" charset="-122"/>
                <a:cs typeface="Microsoft YaHei" pitchFamily="34" charset="-120"/>
              </a:rPr>
              <a:t>⚠️ 风险与应对</a:t>
            </a:r>
            <a:endParaRPr lang="en-US" sz="1152" dirty="0"/>
          </a:p>
        </p:txBody>
      </p:sp>
      <p:sp>
        <p:nvSpPr>
          <p:cNvPr id="5" name="Text 2"/>
          <p:cNvSpPr/>
          <p:nvPr/>
        </p:nvSpPr>
        <p:spPr>
          <a:xfrm>
            <a:off x="548640" y="512064"/>
            <a:ext cx="365760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A0A0B8"/>
                </a:solidFill>
                <a:latin typeface="Microsoft YaHei" pitchFamily="34" charset="0"/>
                <a:ea typeface="Microsoft YaHei" pitchFamily="34" charset="-122"/>
                <a:cs typeface="Microsoft YaHei" pitchFamily="34" charset="-120"/>
              </a:rPr>
              <a:t>识别关键风险，制定预案，保障项目交付</a:t>
            </a:r>
            <a:endParaRPr lang="en-US" sz="1152" dirty="0"/>
          </a:p>
        </p:txBody>
      </p:sp>
      <p:sp>
        <p:nvSpPr>
          <p:cNvPr id="6" name="Shape 3"/>
          <p:cNvSpPr/>
          <p:nvPr/>
        </p:nvSpPr>
        <p:spPr>
          <a:xfrm>
            <a:off x="548640" y="914400"/>
            <a:ext cx="4023360" cy="329184"/>
          </a:xfrm>
          <a:custGeom>
            <a:avLst/>
            <a:gdLst/>
            <a:ahLst/>
            <a:cxnLst/>
            <a:rect l="l" t="t" r="r" b="b"/>
            <a:pathLst>
              <a:path w="4023360" h="329184">
                <a:moveTo>
                  <a:pt x="0" y="0"/>
                </a:moveTo>
                <a:lnTo>
                  <a:pt x="4023360" y="0"/>
                </a:lnTo>
                <a:lnTo>
                  <a:pt x="4023360" y="329184"/>
                </a:lnTo>
                <a:lnTo>
                  <a:pt x="0" y="329184"/>
                </a:lnTo>
                <a:close/>
              </a:path>
            </a:pathLst>
          </a:custGeom>
          <a:solidFill>
            <a:srgbClr val="E94560"/>
          </a:solidFill>
          <a:ln/>
        </p:spPr>
      </p:sp>
      <p:sp>
        <p:nvSpPr>
          <p:cNvPr id="7" name="Text 4"/>
          <p:cNvSpPr/>
          <p:nvPr/>
        </p:nvSpPr>
        <p:spPr>
          <a:xfrm>
            <a:off x="548640" y="896112"/>
            <a:ext cx="402336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FFFFFF"/>
                </a:solidFill>
                <a:latin typeface="Microsoft YaHei" pitchFamily="34" charset="0"/>
                <a:ea typeface="Microsoft YaHei" pitchFamily="34" charset="-122"/>
                <a:cs typeface="Microsoft YaHei" pitchFamily="34" charset="-120"/>
              </a:rPr>
              <a:t>风险项</a:t>
            </a:r>
            <a:endParaRPr lang="en-US" sz="1152" dirty="0"/>
          </a:p>
        </p:txBody>
      </p:sp>
      <p:sp>
        <p:nvSpPr>
          <p:cNvPr id="8" name="Shape 5"/>
          <p:cNvSpPr/>
          <p:nvPr/>
        </p:nvSpPr>
        <p:spPr>
          <a:xfrm>
            <a:off x="4663440" y="914400"/>
            <a:ext cx="3931920" cy="329184"/>
          </a:xfrm>
          <a:custGeom>
            <a:avLst/>
            <a:gdLst/>
            <a:ahLst/>
            <a:cxnLst/>
            <a:rect l="l" t="t" r="r" b="b"/>
            <a:pathLst>
              <a:path w="3931920" h="329184">
                <a:moveTo>
                  <a:pt x="0" y="0"/>
                </a:moveTo>
                <a:lnTo>
                  <a:pt x="3931920" y="0"/>
                </a:lnTo>
                <a:lnTo>
                  <a:pt x="3931920" y="329184"/>
                </a:lnTo>
                <a:lnTo>
                  <a:pt x="0" y="329184"/>
                </a:lnTo>
                <a:close/>
              </a:path>
            </a:pathLst>
          </a:custGeom>
          <a:solidFill>
            <a:srgbClr val="0F3460"/>
          </a:solidFill>
          <a:ln/>
        </p:spPr>
      </p:sp>
      <p:sp>
        <p:nvSpPr>
          <p:cNvPr id="9" name="Text 6"/>
          <p:cNvSpPr/>
          <p:nvPr/>
        </p:nvSpPr>
        <p:spPr>
          <a:xfrm>
            <a:off x="4663440" y="896112"/>
            <a:ext cx="393192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FFFFFF"/>
                </a:solidFill>
                <a:latin typeface="Microsoft YaHei" pitchFamily="34" charset="0"/>
                <a:ea typeface="Microsoft YaHei" pitchFamily="34" charset="-122"/>
                <a:cs typeface="Microsoft YaHei" pitchFamily="34" charset="-120"/>
              </a:rPr>
              <a:t>应对策略</a:t>
            </a:r>
            <a:endParaRPr lang="en-US" sz="1152" dirty="0"/>
          </a:p>
        </p:txBody>
      </p:sp>
      <p:sp>
        <p:nvSpPr>
          <p:cNvPr id="10" name="Shape 7"/>
          <p:cNvSpPr/>
          <p:nvPr/>
        </p:nvSpPr>
        <p:spPr>
          <a:xfrm>
            <a:off x="548640" y="1316736"/>
            <a:ext cx="4023360" cy="621792"/>
          </a:xfrm>
          <a:custGeom>
            <a:avLst/>
            <a:gdLst/>
            <a:ahLst/>
            <a:cxnLst/>
            <a:rect l="l" t="t" r="r" b="b"/>
            <a:pathLst>
              <a:path w="4023360" h="621792">
                <a:moveTo>
                  <a:pt x="0" y="0"/>
                </a:moveTo>
                <a:lnTo>
                  <a:pt x="4023360" y="0"/>
                </a:lnTo>
                <a:lnTo>
                  <a:pt x="4023360" y="621792"/>
                </a:lnTo>
                <a:lnTo>
                  <a:pt x="0" y="621792"/>
                </a:lnTo>
                <a:close/>
              </a:path>
            </a:pathLst>
          </a:custGeom>
          <a:solidFill>
            <a:srgbClr val="1F2842"/>
          </a:solidFill>
          <a:ln/>
        </p:spPr>
      </p:sp>
      <p:sp>
        <p:nvSpPr>
          <p:cNvPr id="11" name="Text 8"/>
          <p:cNvSpPr/>
          <p:nvPr/>
        </p:nvSpPr>
        <p:spPr>
          <a:xfrm>
            <a:off x="658368" y="1353312"/>
            <a:ext cx="3803904"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E94560"/>
                </a:solidFill>
                <a:latin typeface="Microsoft YaHei" pitchFamily="34" charset="0"/>
                <a:ea typeface="Microsoft YaHei" pitchFamily="34" charset="-122"/>
                <a:cs typeface="Microsoft YaHei" pitchFamily="34" charset="-120"/>
              </a:rPr>
              <a:t>❶ 模块 A 延迟</a:t>
            </a:r>
            <a:endParaRPr lang="en-US" sz="1152" dirty="0"/>
          </a:p>
          <a:p>
            <a:pPr indent="0" marL="0">
              <a:lnSpc>
                <a:spcPct val="120000"/>
              </a:lnSpc>
              <a:spcBef>
                <a:spcPts val="360"/>
              </a:spcBef>
              <a:buNone/>
            </a:pPr>
            <a:r>
              <a:rPr lang="en-US" sz="1008" dirty="0">
                <a:solidFill>
                  <a:srgbClr val="D0D0E0"/>
                </a:solidFill>
                <a:latin typeface="Microsoft YaHei" pitchFamily="34" charset="0"/>
                <a:ea typeface="Microsoft YaHei" pitchFamily="34" charset="-122"/>
                <a:cs typeface="Microsoft YaHei" pitchFamily="34" charset="-120"/>
              </a:rPr>
              <a:t>上游模块交付滞后，阻塞 B/C 开发</a:t>
            </a:r>
            <a:endParaRPr lang="en-US" sz="1152" dirty="0"/>
          </a:p>
        </p:txBody>
      </p:sp>
      <p:sp>
        <p:nvSpPr>
          <p:cNvPr id="12" name="Shape 9"/>
          <p:cNvSpPr/>
          <p:nvPr/>
        </p:nvSpPr>
        <p:spPr>
          <a:xfrm>
            <a:off x="4663440" y="1316736"/>
            <a:ext cx="3931920" cy="621792"/>
          </a:xfrm>
          <a:custGeom>
            <a:avLst/>
            <a:gdLst/>
            <a:ahLst/>
            <a:cxnLst/>
            <a:rect l="l" t="t" r="r" b="b"/>
            <a:pathLst>
              <a:path w="3931920" h="621792">
                <a:moveTo>
                  <a:pt x="0" y="0"/>
                </a:moveTo>
                <a:lnTo>
                  <a:pt x="3931920" y="0"/>
                </a:lnTo>
                <a:lnTo>
                  <a:pt x="3931920" y="621792"/>
                </a:lnTo>
                <a:lnTo>
                  <a:pt x="0" y="621792"/>
                </a:lnTo>
                <a:close/>
              </a:path>
            </a:pathLst>
          </a:custGeom>
          <a:solidFill>
            <a:srgbClr val="162447"/>
          </a:solidFill>
          <a:ln/>
        </p:spPr>
      </p:sp>
      <p:sp>
        <p:nvSpPr>
          <p:cNvPr id="13" name="Text 10"/>
          <p:cNvSpPr/>
          <p:nvPr/>
        </p:nvSpPr>
        <p:spPr>
          <a:xfrm>
            <a:off x="4773168" y="1353312"/>
            <a:ext cx="3712464"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C8C8DC"/>
                </a:solidFill>
                <a:latin typeface="Microsoft YaHei" pitchFamily="34" charset="0"/>
                <a:ea typeface="Microsoft YaHei" pitchFamily="34" charset="-122"/>
                <a:cs typeface="Microsoft YaHei" pitchFamily="34" charset="-120"/>
              </a:rPr>
              <a:t>B/C 第2周使用 </a:t>
            </a:r>
            <a:pPr indent="0" marL="0">
              <a:lnSpc>
                <a:spcPct val="120000"/>
              </a:lnSpc>
              <a:spcBef>
                <a:spcPts val="360"/>
              </a:spcBef>
              <a:buNone/>
            </a:pPr>
            <a:r>
              <a:rPr lang="en-US" sz="1008" b="1" dirty="0">
                <a:solidFill>
                  <a:srgbClr val="53D8A8"/>
                </a:solidFill>
                <a:latin typeface="Microsoft YaHei" pitchFamily="34" charset="0"/>
                <a:ea typeface="Microsoft YaHei" pitchFamily="34" charset="-122"/>
                <a:cs typeface="Microsoft YaHei" pitchFamily="34" charset="-120"/>
              </a:rPr>
              <a:t>mock 数据</a:t>
            </a:r>
            <a:pPr indent="0" marL="0">
              <a:lnSpc>
                <a:spcPct val="120000"/>
              </a:lnSpc>
              <a:spcBef>
                <a:spcPts val="360"/>
              </a:spcBef>
              <a:buNone/>
            </a:pPr>
            <a:r>
              <a:rPr lang="en-US" sz="1008" dirty="0">
                <a:solidFill>
                  <a:srgbClr val="C8C8DC"/>
                </a:solidFill>
                <a:latin typeface="Microsoft YaHei" pitchFamily="34" charset="0"/>
                <a:ea typeface="Microsoft YaHei" pitchFamily="34" charset="-122"/>
                <a:cs typeface="Microsoft YaHei" pitchFamily="34" charset="-120"/>
              </a:rPr>
              <a:t>独立开发</a:t>
            </a:r>
            <a:endParaRPr lang="en-US" sz="1152" dirty="0"/>
          </a:p>
          <a:p>
            <a:pPr indent="0" marL="0">
              <a:lnSpc>
                <a:spcPct val="120000"/>
              </a:lnSpc>
              <a:spcBef>
                <a:spcPts val="360"/>
              </a:spcBef>
              <a:buNone/>
            </a:pPr>
            <a:r>
              <a:rPr lang="en-US" sz="1008" dirty="0">
                <a:solidFill>
                  <a:srgbClr val="C8C8DC"/>
                </a:solidFill>
                <a:latin typeface="Microsoft YaHei" pitchFamily="34" charset="0"/>
                <a:ea typeface="Microsoft YaHei" pitchFamily="34" charset="-122"/>
                <a:cs typeface="Microsoft YaHei" pitchFamily="34" charset="-120"/>
              </a:rPr>
              <a:t>不被阻塞，保持并行推进</a:t>
            </a:r>
            <a:endParaRPr lang="en-US" sz="1152" dirty="0"/>
          </a:p>
        </p:txBody>
      </p:sp>
      <p:sp>
        <p:nvSpPr>
          <p:cNvPr id="14" name="Shape 11"/>
          <p:cNvSpPr/>
          <p:nvPr/>
        </p:nvSpPr>
        <p:spPr>
          <a:xfrm>
            <a:off x="4608576" y="1554480"/>
            <a:ext cx="0" cy="0"/>
          </a:xfrm>
          <a:custGeom>
            <a:avLst/>
            <a:gdLst/>
            <a:ahLst/>
            <a:cxnLst/>
            <a:rect l="l" t="t" r="r" b="b"/>
            <a:pathLst>
              <a:path w="0" h="0">
                <a:moveTo>
                  <a:pt x="0" y="0"/>
                </a:moveTo>
                <a:lnTo>
                  <a:pt x="0" y="0"/>
                </a:lnTo>
              </a:path>
            </a:pathLst>
          </a:custGeom>
          <a:noFill/>
          <a:ln w="27432">
            <a:solidFill>
              <a:srgbClr val="E94560"/>
            </a:solidFill>
            <a:prstDash val="solid"/>
            <a:headEnd type="none"/>
            <a:tailEnd type="arrow"/>
          </a:ln>
        </p:spPr>
      </p:sp>
      <p:sp>
        <p:nvSpPr>
          <p:cNvPr id="15" name="Shape 12"/>
          <p:cNvSpPr/>
          <p:nvPr/>
        </p:nvSpPr>
        <p:spPr>
          <a:xfrm>
            <a:off x="548640" y="2011680"/>
            <a:ext cx="4023360" cy="621792"/>
          </a:xfrm>
          <a:custGeom>
            <a:avLst/>
            <a:gdLst/>
            <a:ahLst/>
            <a:cxnLst/>
            <a:rect l="l" t="t" r="r" b="b"/>
            <a:pathLst>
              <a:path w="4023360" h="621792">
                <a:moveTo>
                  <a:pt x="0" y="0"/>
                </a:moveTo>
                <a:lnTo>
                  <a:pt x="4023360" y="0"/>
                </a:lnTo>
                <a:lnTo>
                  <a:pt x="4023360" y="621792"/>
                </a:lnTo>
                <a:lnTo>
                  <a:pt x="0" y="621792"/>
                </a:lnTo>
                <a:close/>
              </a:path>
            </a:pathLst>
          </a:custGeom>
          <a:solidFill>
            <a:srgbClr val="1F2842"/>
          </a:solidFill>
          <a:ln/>
        </p:spPr>
      </p:sp>
      <p:sp>
        <p:nvSpPr>
          <p:cNvPr id="16" name="Text 13"/>
          <p:cNvSpPr/>
          <p:nvPr/>
        </p:nvSpPr>
        <p:spPr>
          <a:xfrm>
            <a:off x="658368" y="2048256"/>
            <a:ext cx="3803904"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E9A045"/>
                </a:solidFill>
                <a:latin typeface="Microsoft YaHei" pitchFamily="34" charset="0"/>
                <a:ea typeface="Microsoft YaHei" pitchFamily="34" charset="-122"/>
                <a:cs typeface="Microsoft YaHei" pitchFamily="34" charset="-120"/>
              </a:rPr>
              <a:t>❷ AI 接口不稳定</a:t>
            </a:r>
            <a:endParaRPr lang="en-US" sz="1152" dirty="0"/>
          </a:p>
          <a:p>
            <a:pPr indent="0" marL="0">
              <a:lnSpc>
                <a:spcPct val="120000"/>
              </a:lnSpc>
              <a:spcBef>
                <a:spcPts val="360"/>
              </a:spcBef>
              <a:buNone/>
            </a:pPr>
            <a:r>
              <a:rPr lang="en-US" sz="1008" dirty="0">
                <a:solidFill>
                  <a:srgbClr val="D0D0E0"/>
                </a:solidFill>
                <a:latin typeface="Microsoft YaHei" pitchFamily="34" charset="0"/>
                <a:ea typeface="Microsoft YaHei" pitchFamily="34" charset="-122"/>
                <a:cs typeface="Microsoft YaHei" pitchFamily="34" charset="-120"/>
              </a:rPr>
              <a:t>第三方 AI 服务响应异常或不可用</a:t>
            </a:r>
            <a:endParaRPr lang="en-US" sz="1152" dirty="0"/>
          </a:p>
        </p:txBody>
      </p:sp>
      <p:sp>
        <p:nvSpPr>
          <p:cNvPr id="17" name="Shape 14"/>
          <p:cNvSpPr/>
          <p:nvPr/>
        </p:nvSpPr>
        <p:spPr>
          <a:xfrm>
            <a:off x="4663440" y="2011680"/>
            <a:ext cx="3931920" cy="621792"/>
          </a:xfrm>
          <a:custGeom>
            <a:avLst/>
            <a:gdLst/>
            <a:ahLst/>
            <a:cxnLst/>
            <a:rect l="l" t="t" r="r" b="b"/>
            <a:pathLst>
              <a:path w="3931920" h="621792">
                <a:moveTo>
                  <a:pt x="0" y="0"/>
                </a:moveTo>
                <a:lnTo>
                  <a:pt x="3931920" y="0"/>
                </a:lnTo>
                <a:lnTo>
                  <a:pt x="3931920" y="621792"/>
                </a:lnTo>
                <a:lnTo>
                  <a:pt x="0" y="621792"/>
                </a:lnTo>
                <a:close/>
              </a:path>
            </a:pathLst>
          </a:custGeom>
          <a:solidFill>
            <a:srgbClr val="162447"/>
          </a:solidFill>
          <a:ln/>
        </p:spPr>
      </p:sp>
      <p:sp>
        <p:nvSpPr>
          <p:cNvPr id="18" name="Text 15"/>
          <p:cNvSpPr/>
          <p:nvPr/>
        </p:nvSpPr>
        <p:spPr>
          <a:xfrm>
            <a:off x="4773168" y="2048256"/>
            <a:ext cx="3712464"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C8C8DC"/>
                </a:solidFill>
                <a:latin typeface="Microsoft YaHei" pitchFamily="34" charset="0"/>
                <a:ea typeface="Microsoft YaHei" pitchFamily="34" charset="-122"/>
                <a:cs typeface="Microsoft YaHei" pitchFamily="34" charset="-120"/>
              </a:rPr>
              <a:t>模块 C 实现 </a:t>
            </a:r>
            <a:pPr indent="0" marL="0">
              <a:lnSpc>
                <a:spcPct val="120000"/>
              </a:lnSpc>
              <a:spcBef>
                <a:spcPts val="360"/>
              </a:spcBef>
              <a:buNone/>
            </a:pPr>
            <a:r>
              <a:rPr lang="en-US" sz="1008" b="1" dirty="0">
                <a:solidFill>
                  <a:srgbClr val="53D8A8"/>
                </a:solidFill>
                <a:latin typeface="Microsoft YaHei" pitchFamily="34" charset="0"/>
                <a:ea typeface="Microsoft YaHei" pitchFamily="34" charset="-122"/>
                <a:cs typeface="Microsoft YaHei" pitchFamily="34" charset="-120"/>
              </a:rPr>
              <a:t>mock fallback</a:t>
            </a:r>
            <a:endParaRPr lang="en-US" sz="1152" dirty="0"/>
          </a:p>
          <a:p>
            <a:pPr indent="0" marL="0">
              <a:lnSpc>
                <a:spcPct val="120000"/>
              </a:lnSpc>
              <a:spcBef>
                <a:spcPts val="360"/>
              </a:spcBef>
              <a:buNone/>
            </a:pPr>
            <a:r>
              <a:rPr lang="en-US" sz="1008" dirty="0">
                <a:solidFill>
                  <a:srgbClr val="C8C8DC"/>
                </a:solidFill>
                <a:latin typeface="Microsoft YaHei" pitchFamily="34" charset="0"/>
                <a:ea typeface="Microsoft YaHei" pitchFamily="34" charset="-122"/>
                <a:cs typeface="Microsoft YaHei" pitchFamily="34" charset="-120"/>
              </a:rPr>
              <a:t>支持离线演示，确保交付不受影响</a:t>
            </a:r>
            <a:endParaRPr lang="en-US" sz="1152" dirty="0"/>
          </a:p>
        </p:txBody>
      </p:sp>
      <p:sp>
        <p:nvSpPr>
          <p:cNvPr id="19" name="Shape 16"/>
          <p:cNvSpPr/>
          <p:nvPr/>
        </p:nvSpPr>
        <p:spPr>
          <a:xfrm>
            <a:off x="548640" y="2706624"/>
            <a:ext cx="4023360" cy="621792"/>
          </a:xfrm>
          <a:custGeom>
            <a:avLst/>
            <a:gdLst/>
            <a:ahLst/>
            <a:cxnLst/>
            <a:rect l="l" t="t" r="r" b="b"/>
            <a:pathLst>
              <a:path w="4023360" h="621792">
                <a:moveTo>
                  <a:pt x="0" y="0"/>
                </a:moveTo>
                <a:lnTo>
                  <a:pt x="4023360" y="0"/>
                </a:lnTo>
                <a:lnTo>
                  <a:pt x="4023360" y="621792"/>
                </a:lnTo>
                <a:lnTo>
                  <a:pt x="0" y="621792"/>
                </a:lnTo>
                <a:close/>
              </a:path>
            </a:pathLst>
          </a:custGeom>
          <a:solidFill>
            <a:srgbClr val="1F2842"/>
          </a:solidFill>
          <a:ln/>
        </p:spPr>
      </p:sp>
      <p:sp>
        <p:nvSpPr>
          <p:cNvPr id="20" name="Text 17"/>
          <p:cNvSpPr/>
          <p:nvPr/>
        </p:nvSpPr>
        <p:spPr>
          <a:xfrm>
            <a:off x="658368" y="2743200"/>
            <a:ext cx="3803904"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E9A045"/>
                </a:solidFill>
                <a:latin typeface="Microsoft YaHei" pitchFamily="34" charset="0"/>
                <a:ea typeface="Microsoft YaHei" pitchFamily="34" charset="-122"/>
                <a:cs typeface="Microsoft YaHei" pitchFamily="34" charset="-120"/>
              </a:rPr>
              <a:t>❸ Electron 跨平台打包</a:t>
            </a:r>
            <a:endParaRPr lang="en-US" sz="1152" dirty="0"/>
          </a:p>
          <a:p>
            <a:pPr indent="0" marL="0">
              <a:lnSpc>
                <a:spcPct val="120000"/>
              </a:lnSpc>
              <a:spcBef>
                <a:spcPts val="360"/>
              </a:spcBef>
              <a:buNone/>
            </a:pPr>
            <a:r>
              <a:rPr lang="en-US" sz="1008" dirty="0">
                <a:solidFill>
                  <a:srgbClr val="D0D0E0"/>
                </a:solidFill>
                <a:latin typeface="Microsoft YaHei" pitchFamily="34" charset="0"/>
                <a:ea typeface="Microsoft YaHei" pitchFamily="34" charset="-122"/>
                <a:cs typeface="Microsoft YaHei" pitchFamily="34" charset="-120"/>
              </a:rPr>
              <a:t>多平台构建兼容性差异大</a:t>
            </a:r>
            <a:endParaRPr lang="en-US" sz="1152" dirty="0"/>
          </a:p>
        </p:txBody>
      </p:sp>
      <p:sp>
        <p:nvSpPr>
          <p:cNvPr id="21" name="Shape 18"/>
          <p:cNvSpPr/>
          <p:nvPr/>
        </p:nvSpPr>
        <p:spPr>
          <a:xfrm>
            <a:off x="4663440" y="2706624"/>
            <a:ext cx="3931920" cy="621792"/>
          </a:xfrm>
          <a:custGeom>
            <a:avLst/>
            <a:gdLst/>
            <a:ahLst/>
            <a:cxnLst/>
            <a:rect l="l" t="t" r="r" b="b"/>
            <a:pathLst>
              <a:path w="3931920" h="621792">
                <a:moveTo>
                  <a:pt x="0" y="0"/>
                </a:moveTo>
                <a:lnTo>
                  <a:pt x="3931920" y="0"/>
                </a:lnTo>
                <a:lnTo>
                  <a:pt x="3931920" y="621792"/>
                </a:lnTo>
                <a:lnTo>
                  <a:pt x="0" y="621792"/>
                </a:lnTo>
                <a:close/>
              </a:path>
            </a:pathLst>
          </a:custGeom>
          <a:solidFill>
            <a:srgbClr val="162447"/>
          </a:solidFill>
          <a:ln/>
        </p:spPr>
      </p:sp>
      <p:sp>
        <p:nvSpPr>
          <p:cNvPr id="22" name="Text 19"/>
          <p:cNvSpPr/>
          <p:nvPr/>
        </p:nvSpPr>
        <p:spPr>
          <a:xfrm>
            <a:off x="4773168" y="2743200"/>
            <a:ext cx="3712464"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C8C8DC"/>
                </a:solidFill>
                <a:latin typeface="Microsoft YaHei" pitchFamily="34" charset="0"/>
                <a:ea typeface="Microsoft YaHei" pitchFamily="34" charset="-122"/>
                <a:cs typeface="Microsoft YaHei" pitchFamily="34" charset="-120"/>
              </a:rPr>
              <a:t>优先 </a:t>
            </a:r>
            <a:pPr indent="0" marL="0">
              <a:lnSpc>
                <a:spcPct val="120000"/>
              </a:lnSpc>
              <a:spcBef>
                <a:spcPts val="360"/>
              </a:spcBef>
              <a:buNone/>
            </a:pPr>
            <a:r>
              <a:rPr lang="en-US" sz="1008" b="1" dirty="0">
                <a:solidFill>
                  <a:srgbClr val="53D8A8"/>
                </a:solidFill>
                <a:latin typeface="Microsoft YaHei" pitchFamily="34" charset="0"/>
                <a:ea typeface="Microsoft YaHei" pitchFamily="34" charset="-122"/>
                <a:cs typeface="Microsoft YaHei" pitchFamily="34" charset="-120"/>
              </a:rPr>
              <a:t>一个平台跑通</a:t>
            </a:r>
            <a:endParaRPr lang="en-US" sz="1152" dirty="0"/>
          </a:p>
          <a:p>
            <a:pPr indent="0" marL="0">
              <a:lnSpc>
                <a:spcPct val="120000"/>
              </a:lnSpc>
              <a:spcBef>
                <a:spcPts val="360"/>
              </a:spcBef>
              <a:buNone/>
            </a:pPr>
            <a:r>
              <a:rPr lang="en-US" sz="1008" dirty="0">
                <a:solidFill>
                  <a:srgbClr val="C8C8DC"/>
                </a:solidFill>
                <a:latin typeface="Microsoft YaHei" pitchFamily="34" charset="0"/>
                <a:ea typeface="Microsoft YaHei" pitchFamily="34" charset="-122"/>
                <a:cs typeface="Microsoft YaHei" pitchFamily="34" charset="-120"/>
              </a:rPr>
              <a:t>其余平台列入 known issues 逐步修复</a:t>
            </a:r>
            <a:endParaRPr lang="en-US" sz="1152" dirty="0"/>
          </a:p>
        </p:txBody>
      </p:sp>
      <p:sp>
        <p:nvSpPr>
          <p:cNvPr id="23" name="Shape 20"/>
          <p:cNvSpPr/>
          <p:nvPr/>
        </p:nvSpPr>
        <p:spPr>
          <a:xfrm>
            <a:off x="548640" y="3401568"/>
            <a:ext cx="4023360" cy="621792"/>
          </a:xfrm>
          <a:custGeom>
            <a:avLst/>
            <a:gdLst/>
            <a:ahLst/>
            <a:cxnLst/>
            <a:rect l="l" t="t" r="r" b="b"/>
            <a:pathLst>
              <a:path w="4023360" h="621792">
                <a:moveTo>
                  <a:pt x="0" y="0"/>
                </a:moveTo>
                <a:lnTo>
                  <a:pt x="4023360" y="0"/>
                </a:lnTo>
                <a:lnTo>
                  <a:pt x="4023360" y="621792"/>
                </a:lnTo>
                <a:lnTo>
                  <a:pt x="0" y="621792"/>
                </a:lnTo>
                <a:close/>
              </a:path>
            </a:pathLst>
          </a:custGeom>
          <a:solidFill>
            <a:srgbClr val="1F2842"/>
          </a:solidFill>
          <a:ln/>
        </p:spPr>
      </p:sp>
      <p:sp>
        <p:nvSpPr>
          <p:cNvPr id="24" name="Text 21"/>
          <p:cNvSpPr/>
          <p:nvPr/>
        </p:nvSpPr>
        <p:spPr>
          <a:xfrm>
            <a:off x="658368" y="3438144"/>
            <a:ext cx="3803904"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5B9BD5"/>
                </a:solidFill>
                <a:latin typeface="Microsoft YaHei" pitchFamily="34" charset="0"/>
                <a:ea typeface="Microsoft YaHei" pitchFamily="34" charset="-122"/>
                <a:cs typeface="Microsoft YaHei" pitchFamily="34" charset="-120"/>
              </a:rPr>
              <a:t>❹ 第4周联调冲突</a:t>
            </a:r>
            <a:endParaRPr lang="en-US" sz="1152" dirty="0"/>
          </a:p>
          <a:p>
            <a:pPr indent="0" marL="0">
              <a:lnSpc>
                <a:spcPct val="120000"/>
              </a:lnSpc>
              <a:spcBef>
                <a:spcPts val="360"/>
              </a:spcBef>
              <a:buNone/>
            </a:pPr>
            <a:r>
              <a:rPr lang="en-US" sz="1008" dirty="0">
                <a:solidFill>
                  <a:srgbClr val="D0D0E0"/>
                </a:solidFill>
                <a:latin typeface="Microsoft YaHei" pitchFamily="34" charset="0"/>
                <a:ea typeface="Microsoft YaHei" pitchFamily="34" charset="-122"/>
                <a:cs typeface="Microsoft YaHei" pitchFamily="34" charset="-120"/>
              </a:rPr>
              <a:t>接口定义不一致导致联调失败</a:t>
            </a:r>
            <a:endParaRPr lang="en-US" sz="1152" dirty="0"/>
          </a:p>
        </p:txBody>
      </p:sp>
      <p:sp>
        <p:nvSpPr>
          <p:cNvPr id="25" name="Shape 22"/>
          <p:cNvSpPr/>
          <p:nvPr/>
        </p:nvSpPr>
        <p:spPr>
          <a:xfrm>
            <a:off x="4663440" y="3401568"/>
            <a:ext cx="3931920" cy="621792"/>
          </a:xfrm>
          <a:custGeom>
            <a:avLst/>
            <a:gdLst/>
            <a:ahLst/>
            <a:cxnLst/>
            <a:rect l="l" t="t" r="r" b="b"/>
            <a:pathLst>
              <a:path w="3931920" h="621792">
                <a:moveTo>
                  <a:pt x="0" y="0"/>
                </a:moveTo>
                <a:lnTo>
                  <a:pt x="3931920" y="0"/>
                </a:lnTo>
                <a:lnTo>
                  <a:pt x="3931920" y="621792"/>
                </a:lnTo>
                <a:lnTo>
                  <a:pt x="0" y="621792"/>
                </a:lnTo>
                <a:close/>
              </a:path>
            </a:pathLst>
          </a:custGeom>
          <a:solidFill>
            <a:srgbClr val="162447"/>
          </a:solidFill>
          <a:ln/>
        </p:spPr>
      </p:sp>
      <p:sp>
        <p:nvSpPr>
          <p:cNvPr id="26" name="Text 23"/>
          <p:cNvSpPr/>
          <p:nvPr/>
        </p:nvSpPr>
        <p:spPr>
          <a:xfrm>
            <a:off x="4773168" y="3438144"/>
            <a:ext cx="3712464"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C8C8DC"/>
                </a:solidFill>
                <a:latin typeface="Microsoft YaHei" pitchFamily="34" charset="0"/>
                <a:ea typeface="Microsoft YaHei" pitchFamily="34" charset="-122"/>
                <a:cs typeface="Microsoft YaHei" pitchFamily="34" charset="-120"/>
              </a:rPr>
              <a:t>第1周定义 </a:t>
            </a:r>
            <a:pPr indent="0" marL="0">
              <a:lnSpc>
                <a:spcPct val="120000"/>
              </a:lnSpc>
              <a:spcBef>
                <a:spcPts val="360"/>
              </a:spcBef>
              <a:buNone/>
            </a:pPr>
            <a:r>
              <a:rPr lang="en-US" sz="1008" b="1" dirty="0">
                <a:solidFill>
                  <a:srgbClr val="53D8A8"/>
                </a:solidFill>
                <a:latin typeface="Microsoft YaHei" pitchFamily="34" charset="0"/>
                <a:ea typeface="Microsoft YaHei" pitchFamily="34" charset="-122"/>
                <a:cs typeface="Microsoft YaHei" pitchFamily="34" charset="-120"/>
              </a:rPr>
              <a:t>Service 接口签名</a:t>
            </a:r>
            <a:endParaRPr lang="en-US" sz="1152" dirty="0"/>
          </a:p>
          <a:p>
            <a:pPr indent="0" marL="0">
              <a:lnSpc>
                <a:spcPct val="120000"/>
              </a:lnSpc>
              <a:spcBef>
                <a:spcPts val="360"/>
              </a:spcBef>
              <a:buNone/>
            </a:pPr>
            <a:r>
              <a:rPr lang="en-US" sz="1008" dirty="0">
                <a:solidFill>
                  <a:srgbClr val="C8C8DC"/>
                </a:solidFill>
                <a:latin typeface="Microsoft YaHei" pitchFamily="34" charset="0"/>
                <a:ea typeface="Microsoft YaHei" pitchFamily="34" charset="-122"/>
                <a:cs typeface="Microsoft YaHei" pitchFamily="34" charset="-120"/>
              </a:rPr>
              <a:t>提前锁定契约，降低不匹配风险</a:t>
            </a:r>
            <a:endParaRPr lang="en-US" sz="1152" dirty="0"/>
          </a:p>
        </p:txBody>
      </p:sp>
      <p:sp>
        <p:nvSpPr>
          <p:cNvPr id="27" name="Shape 24"/>
          <p:cNvSpPr/>
          <p:nvPr/>
        </p:nvSpPr>
        <p:spPr>
          <a:xfrm>
            <a:off x="548640" y="4096512"/>
            <a:ext cx="4023360" cy="621792"/>
          </a:xfrm>
          <a:custGeom>
            <a:avLst/>
            <a:gdLst/>
            <a:ahLst/>
            <a:cxnLst/>
            <a:rect l="l" t="t" r="r" b="b"/>
            <a:pathLst>
              <a:path w="4023360" h="621792">
                <a:moveTo>
                  <a:pt x="0" y="0"/>
                </a:moveTo>
                <a:lnTo>
                  <a:pt x="4023360" y="0"/>
                </a:lnTo>
                <a:lnTo>
                  <a:pt x="4023360" y="621792"/>
                </a:lnTo>
                <a:lnTo>
                  <a:pt x="0" y="621792"/>
                </a:lnTo>
                <a:close/>
              </a:path>
            </a:pathLst>
          </a:custGeom>
          <a:solidFill>
            <a:srgbClr val="1F2842"/>
          </a:solidFill>
          <a:ln/>
        </p:spPr>
      </p:sp>
      <p:sp>
        <p:nvSpPr>
          <p:cNvPr id="28" name="Text 25"/>
          <p:cNvSpPr/>
          <p:nvPr/>
        </p:nvSpPr>
        <p:spPr>
          <a:xfrm>
            <a:off x="658368" y="4133088"/>
            <a:ext cx="3803904"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b="1" dirty="0">
                <a:solidFill>
                  <a:srgbClr val="5B9BD5"/>
                </a:solidFill>
                <a:latin typeface="Microsoft YaHei" pitchFamily="34" charset="0"/>
                <a:ea typeface="Microsoft YaHei" pitchFamily="34" charset="-122"/>
                <a:cs typeface="Microsoft YaHei" pitchFamily="34" charset="-120"/>
              </a:rPr>
              <a:t>❺ 人员进度不均</a:t>
            </a:r>
            <a:endParaRPr lang="en-US" sz="1152" dirty="0"/>
          </a:p>
          <a:p>
            <a:pPr indent="0" marL="0">
              <a:lnSpc>
                <a:spcPct val="120000"/>
              </a:lnSpc>
              <a:spcBef>
                <a:spcPts val="360"/>
              </a:spcBef>
              <a:buNone/>
            </a:pPr>
            <a:r>
              <a:rPr lang="en-US" sz="1008" dirty="0">
                <a:solidFill>
                  <a:srgbClr val="D0D0E0"/>
                </a:solidFill>
                <a:latin typeface="Microsoft YaHei" pitchFamily="34" charset="0"/>
                <a:ea typeface="Microsoft YaHei" pitchFamily="34" charset="-122"/>
                <a:cs typeface="Microsoft YaHei" pitchFamily="34" charset="-120"/>
              </a:rPr>
              <a:t>个别成员进度落后拖累整体</a:t>
            </a:r>
            <a:endParaRPr lang="en-US" sz="1152" dirty="0"/>
          </a:p>
        </p:txBody>
      </p:sp>
      <p:sp>
        <p:nvSpPr>
          <p:cNvPr id="29" name="Shape 26"/>
          <p:cNvSpPr/>
          <p:nvPr/>
        </p:nvSpPr>
        <p:spPr>
          <a:xfrm>
            <a:off x="4663440" y="4096512"/>
            <a:ext cx="3931920" cy="621792"/>
          </a:xfrm>
          <a:custGeom>
            <a:avLst/>
            <a:gdLst/>
            <a:ahLst/>
            <a:cxnLst/>
            <a:rect l="l" t="t" r="r" b="b"/>
            <a:pathLst>
              <a:path w="3931920" h="621792">
                <a:moveTo>
                  <a:pt x="0" y="0"/>
                </a:moveTo>
                <a:lnTo>
                  <a:pt x="3931920" y="0"/>
                </a:lnTo>
                <a:lnTo>
                  <a:pt x="3931920" y="621792"/>
                </a:lnTo>
                <a:lnTo>
                  <a:pt x="0" y="621792"/>
                </a:lnTo>
                <a:close/>
              </a:path>
            </a:pathLst>
          </a:custGeom>
          <a:solidFill>
            <a:srgbClr val="162447"/>
          </a:solidFill>
          <a:ln/>
        </p:spPr>
      </p:sp>
      <p:sp>
        <p:nvSpPr>
          <p:cNvPr id="30" name="Text 27"/>
          <p:cNvSpPr/>
          <p:nvPr/>
        </p:nvSpPr>
        <p:spPr>
          <a:xfrm>
            <a:off x="4773168" y="4133088"/>
            <a:ext cx="3712464"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C8C8DC"/>
                </a:solidFill>
                <a:latin typeface="Microsoft YaHei" pitchFamily="34" charset="0"/>
                <a:ea typeface="Microsoft YaHei" pitchFamily="34" charset="-122"/>
                <a:cs typeface="Microsoft YaHei" pitchFamily="34" charset="-120"/>
              </a:rPr>
              <a:t>每周 </a:t>
            </a:r>
            <a:pPr indent="0" marL="0">
              <a:lnSpc>
                <a:spcPct val="120000"/>
              </a:lnSpc>
              <a:spcBef>
                <a:spcPts val="360"/>
              </a:spcBef>
              <a:buNone/>
            </a:pPr>
            <a:r>
              <a:rPr lang="en-US" sz="1008" b="1" dirty="0">
                <a:solidFill>
                  <a:srgbClr val="53D8A8"/>
                </a:solidFill>
                <a:latin typeface="Microsoft YaHei" pitchFamily="34" charset="0"/>
                <a:ea typeface="Microsoft YaHei" pitchFamily="34" charset="-122"/>
                <a:cs typeface="Microsoft YaHei" pitchFamily="34" charset="-120"/>
              </a:rPr>
              <a:t>检查进度</a:t>
            </a:r>
            <a:endParaRPr lang="en-US" sz="1152" dirty="0"/>
          </a:p>
          <a:p>
            <a:pPr indent="0" marL="0">
              <a:lnSpc>
                <a:spcPct val="120000"/>
              </a:lnSpc>
              <a:spcBef>
                <a:spcPts val="360"/>
              </a:spcBef>
              <a:buNone/>
            </a:pPr>
            <a:r>
              <a:rPr lang="en-US" sz="1008" dirty="0">
                <a:solidFill>
                  <a:srgbClr val="C8C8DC"/>
                </a:solidFill>
                <a:latin typeface="Microsoft YaHei" pitchFamily="34" charset="0"/>
                <a:ea typeface="Microsoft YaHei" pitchFamily="34" charset="-122"/>
                <a:cs typeface="Microsoft YaHei" pitchFamily="34" charset="-120"/>
              </a:rPr>
              <a:t>必要时跨组支援，保障里程碑达成</a:t>
            </a:r>
            <a:endParaRPr lang="en-US" sz="1152" dirty="0"/>
          </a:p>
        </p:txBody>
      </p:sp>
      <p:sp>
        <p:nvSpPr>
          <p:cNvPr id="31" name="Shape 28"/>
          <p:cNvSpPr/>
          <p:nvPr/>
        </p:nvSpPr>
        <p:spPr>
          <a:xfrm>
            <a:off x="4617720" y="1280160"/>
            <a:ext cx="18288" cy="3474720"/>
          </a:xfrm>
          <a:custGeom>
            <a:avLst/>
            <a:gdLst/>
            <a:ahLst/>
            <a:cxnLst/>
            <a:rect l="l" t="t" r="r" b="b"/>
            <a:pathLst>
              <a:path w="18288" h="3474720">
                <a:moveTo>
                  <a:pt x="0" y="0"/>
                </a:moveTo>
                <a:lnTo>
                  <a:pt x="18288" y="0"/>
                </a:lnTo>
                <a:lnTo>
                  <a:pt x="18288" y="3474720"/>
                </a:lnTo>
                <a:lnTo>
                  <a:pt x="0" y="3474720"/>
                </a:lnTo>
                <a:close/>
              </a:path>
            </a:pathLst>
          </a:custGeom>
          <a:solidFill>
            <a:srgbClr val="2A3A5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2026-05-21T09:48:00Z</dcterms:created>
  <dcterms:modified xsi:type="dcterms:W3CDTF">2026-05-21T09:48:00Z</dcterms:modified>
</cp:coreProperties>
</file>