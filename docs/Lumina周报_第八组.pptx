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70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大家好，欢迎来到本周的 Mercury 项目周报会议。我是今天的主讲人，让我们一起回顾这一周的项目进展。
Mercury 项目，也就是我们团队的核心产品迭代项目，本周我们将对其最新进展做一次全面的梳理和汇报。
本次周报覆盖的时间范围是 2026 年 6 月 18 日到 6 月 25 日，整整一周的工作内容。
需要特别强调的是，本周属于功能密集迭代周期。也就是说，这一周我们集中推进了大量功能开发和交付，节奏较快，内容较多。接下来我会逐页为大家展开具体的进展情况。
好，那我们正式开始，先来看整体的工作概览。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好，我们来看本周的开发总览。这张页面帮大家建立一个全局认知——这周我们做了什么、规模有多大。
本周有两条核心主线。第一条是核心功能扩展——我们一共落地了 9 项新功能，外加 1 项数据库地基级别的重构。这条线的重点是把产品能力往前推。
9 项新功能加上数据库重构，工作量相当密集。后面我们会逐一展开讲每个功能的细节。
第二条主线是阅读器的 UX 体验增强。目标很明确——让我们的阅读页向成熟产品看齐，在交互细节和视觉体验上拉平差距。
接下来看整体规模。本周涉及 37 个文件改动，代码行变动达到 +4690 / -95，净增量非常可观。
提交次数超过 30 次，主要集中在 6 月 22 号和 24 号这两天，属于高强度集中产出。
总结一下：两条主线、37 个文件、近五千行新增代码、两天集中爆发。接下来我们就沿着这两条主线，逐个展开来看具体做了哪些事情。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好，接下来我们进入核心功能扩展部分。这一页的内容比较密集，我会逐个拆解。整体分为「地基」和「A档」五项功能，先来看地基。
地基就是数据库版本化迁移。我们用 PRAGMA user_version 来记录当前数据库的版本号，每次应用升级时自动跑迁移脚本，同时开启 WAL 模式保证读写并发不阻塞。这套机制保证了应用可以持续迭代而不丢用户数据。
A1 是全文搜索。我们用 SQLite 的 FTS5 虚拟表来做索引，通过触发器在内容变更时自动同步到搜索表，前端搜索框加了防抖，避免每次按键都发起查询，体验会流畅很多。
A2 是逐段翻译加双语对照。翻译结果通过流式推送实时显示，用户不用等整篇翻完。如果某一段请求失败，采用指数退避策略自动重试，主进程通过事件推送把结果传给渲染进程。
A3 是划词高亮和笔记功能。支持多色高亮，选中文字后弹出浮动工具栏让用户选颜色、加笔记。关键点在于：用户重新打开文章时，之前的高亮要能准确重新定位并着色，这涉及到 DOM 锚点的序列化与恢复。
A4 是摘要分档。我们提供短、中、长三个档位，每档对应不同的 prompt 模板和 token 预算。短摘要可能只给一两句话，长摘要则保留更多细节，用户按需选择。
最后是 A5，API Key 的加密存储。用 Electron 的 safeStorage API 对密钥进行系统级加密，历史版本中如果有明文存储的 Key，升级时会自动检测并迁移为加密格式，保证安全性。
好，这就是地基加五项 A 档功能的全貌。总结一下：地基保证数据库可持续升级，A1 到 A5 分别解决搜索、翻译、标注、摘要和密钥安全这五个核心场景。大家可以看到，每个功能都在可靠性和用户体验之间做了平衡。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好，接下来我们进入 B 档——核心功能扩展部分。这一档一共有 4 项增强功能，它们不是核心主线，但每一项都能显著提升用户体验。我们逐个来看。
首先是 B1，LLM 用量统计面板。我们知道调用大模型是有成本的，所以需要一个地方让用户清晰地看到自己的用量情况。这里的设计思路是按模型、日期和 Agent 三个维度做聚合，展示上用轻量表格配合纯 CSS 柱状图，不引入重型图表库，保持加载速度。
B2 是文章收藏和星标功能。这个很直观——在列表页和阅读页都加上星标按钮，同时在侧栏增加一个收藏入口，方便用户快速找到标记过的内容。实现上注意星标状态要做乐观更新，点击后立即反馈，不要等服务端返回。
B3 是阅读进度记忆。用户读长文章读到一半关掉，再打开时能自动回到上次的位置。技术方案是监听滚动事件，做防抖处理后保存 scroll_percent 到后端，下次打开时根据百分比自动恢复滚动位置。注意防抖间隔不要太短，避免频繁写入。
最后是 B4，AI 建议标签。这里有个 TagSuggestionAgent，它会分析文章内容然后推荐标签，但有个关键设计原则——优先复用系统中已有的标签，避免标签爆炸。而且推荐结果不会自动写入，必须用户勾选确认后才保存，把最终决定权交给用户。
总结一下，B 档这四项功能——用量统计、收藏星标、进度记忆、AI 建议标签，都是围绕「让用户用得更舒服」来设计的。优先级上它们排在核心功能之后，但每一项的实现细节都值得认真打磨。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接下来我们来看阅读器的 UX 体验增强部分。这一页的核心理念很简单——读得更舒服，操作更顺手。我们一共做了 7 项交互改进，逐一来看。
首先是快捷阅读设置面板。用户可以即时调节字号、行高和阅读宽度，而且所有改动都是实时预览的，不需要保存再刷新，体验非常流畅。
第二项是阅读进度条，显示在页面顶部，让用户随时知道自己读到了哪里。同时配合一键回到顶部的按钮，长文章浏览时特别实用。
第三是文章导航功能——上一篇、下一篇快速切换，用户不用回到列表页就能连续阅读，减少操作路径。
第四项，代码块一键复制。对于技术类文章来说这是刚需，点一下就能复制整段代码，省去手动选取的麻烦。
第五是图片灯箱功能，也就是 Lightbox。点击文章中的图片可以放大沉浸式查看，尤其适合包含图表或截图的内容。
第六项是迷你浏览器。我们在应用内嵌入了原网页的查看能力，用户无需跳出应用就能对照原文，上下文不会丢失。
最后一项是 AI 摘要的流式实时显示。摘要边生成边展示，用户能看到进度在走，不会产生'卡住了'的焦虑感。这个细节虽然小，但对感知体验的提升很明显。
总结一下，这 7 项增强都围绕同一个目标：让用户在阅读时尽量少被打断，保持沉浸。每一项单独看都不复杂，但组合在一起就构成了一个完整且顺滑的阅读体验。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好，接下来我们来看本周在新功能之外做的一项重要工作——稳定性与安全加固。写新功能固然重要，但让已有系统更健壮、更安全，才是工程成熟度的体现。
首先是 API 安全层面。我们做了两件事：第一，当 API Key 解密失败时，不再静默忽略，而是主动记录日志，方便后续排查；第二，当 safeStorage 不可用时，比如在某些 CI 环境下，我们会跳过冗余的迁移逻辑，避免无意义的报错和性能浪费。这就是典型的防御性编程思路。
第二个加固点是高亮功能的安全防护。我们引入了颜色白名单机制，同时将字符串拼接替换为函数式 replace。这样做有两个好处：一是规避属性注入类的 XSS 攻击，二是避免 JavaScript 中 replace 方法遇到 $ 符号时的替换 bug。看似小细节，但在安全领域，细节就是一切。
第三是搜索的健壮性。SQLite FTS5 对特殊标点符号的查询语法非常敏感，如果用户输入纯标点，可能触发语法错误导致崩溃。我们的策略是：检测到标点查询直接返回空结果。此外，当用户删除订阅源时，我们同步清理对应的 FTS 索引，保证数据一致性。
第四个修复是阅读器的竞态问题。想象一下：用户快速切换文章，滚动位置的保存和摘要的写入如果没有绑定到具体的文章 ID，就可能把 A 文章的数据写到 B 文章上。我们的做法是将这些异步操作与文章 ID 强绑定，切换时立即作废旧的回调，从根本上杜绝数据错配。
最后是暗色模式的适配工作。灯箱组件和高亮工具栏之间存在 z-index 层级冲突，我们通过统一的层级规范和交互状态隔离来解决。这类视觉层面的 bug 虽然不致命，但直接影响用户体验。
总结一下这页的核心思想：防御性编程、竞态隔离、输入校验、索引一致性。这四个关键词贯穿了本周所有加固工作。记住，好的工程师不只是写新功能，更要让系统在各种异常场景下依然稳定可靠。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好，接下来我们来看本周最值得关注的五个技术亮点。这些不只是功能点，更体现了我们在架构层面的思考和设计哲学。
第一个亮点是事件推送架构。我们把传统的请求/响应模式，升级为主进程向渲染进程推送事件的通道。为什么要这么做？因为流式翻译和流式摘要需要数据持续地、一段一段地到达前端，传统的一问一答模式根本撑不住这种场景。这个改动让整个数据流转变得更自然、更高效。
第二个是版本化数据库迁移。之前我们用的是临时单表迁移，说白了就是'能跑就行'。现在升级为有序的迁移体系，配合 WAL 模式，既保证了数据一致性，也让后续每一次表结构变更都可追溯、可回滚。这是工程成熟度的体现。
第三个亮点是安全意识的真正落地。我们实现了密钥的加密存储，对历史遗留的明文密钥做了自动迁移，同时在输入层和属性层都加了 XSS 防护。安全不是口号，而是每一行代码里的具体实践。
第四点，AI 以人为本。我们的标签建议、摘要分档功能，始终坚持一个原则——AI 给建议，用户做决定。AI 不应该替用户拿主意，而是提供高质量的选项，把最终决策权留给人。这是我们对人机协作的核心态度。
最后一个是竞态防护。这个问题很隐蔽：用户快速切换文章时，异步写入可能把数据写到错误的文章里。我们在多处用文章 ID 绑定异步操作，确保数据不会错配。细节决定品质，这类防护虽然用户看不见，但少了它系统就会出莫名其妙的 bug。
总结一下，这五个亮点从通信架构、数据管理、安全防护、人机交互到并发控制，覆盖了系统设计的多个维度。希望大家不只记住这些技术点，更能体会背后的设计思路。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好，接下来我们来看一下下一步计划。这部分内容是对后续工作方向的梳理，帮助大家明确接下来要做什么、怎么做。
首先是功能收尾。我们需要补充边界场景的测试用例，确保各种极端情况都能被正确处理，同时完善错误处理机制，让系统在异常情况下也能给出清晰的反馈，而不是直接崩溃。
第二块是性能优化。重点在两个方面：一是 FTS 全文搜索索引的调优，在大数据量场景下保证检索效率；二是列表渲染性能优化，避免长列表卡顿的问题。
第三块是 UI 打磨。我们要统一交互反馈的动效，让整个产品的操作体验更一致，同时完善响应式适配，确保在不同屏幕尺寸下都有良好的展示效果。
第四块是文档补全。核心模块的 API 文档和架构说明文档都需要补齐，这对后续团队协作和新人上手非常关键。
最后是下一迭代的规划。我们会收集用户反馈，根据实际使用情况确定功能优先级，制定清晰的迭代目标和里程碑。
总结一下，后续工作围绕稳定性、性能、体验、文档和规划五个维度展开，目标是把当前版本打磨好，同时为下一阶段迭代打下坚实基础。大家如果有想法或建议，随时可以提出来。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1645920"/>
            <a:ext cx="54864" cy="1828800"/>
          </a:xfrm>
          <a:custGeom>
            <a:avLst/>
            <a:gdLst/>
            <a:ahLst/>
            <a:cxnLst/>
            <a:rect l="l" t="t" r="r" b="b"/>
            <a:pathLst>
              <a:path w="54864" h="1828800">
                <a:moveTo>
                  <a:pt x="0" y="0"/>
                </a:moveTo>
                <a:lnTo>
                  <a:pt x="54864" y="0"/>
                </a:lnTo>
                <a:lnTo>
                  <a:pt x="54864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691640"/>
            <a:ext cx="27432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MERCURY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822960" y="2148840"/>
            <a:ext cx="5486400" cy="62953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altLang="zh-CN" sz="25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Lumina</a:t>
            </a:r>
            <a:r>
              <a:rPr lang="en-US" sz="25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项目周报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45720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2026-06-18 ~ 2026-06-25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822960" y="3566160"/>
            <a:ext cx="1645920" cy="329184"/>
          </a:xfrm>
          <a:custGeom>
            <a:avLst/>
            <a:gdLst/>
            <a:ahLst/>
            <a:cxnLst/>
            <a:rect l="l" t="t" r="r" b="b"/>
            <a:pathLst>
              <a:path w="1645920" h="329184">
                <a:moveTo>
                  <a:pt x="0" y="0"/>
                </a:moveTo>
                <a:lnTo>
                  <a:pt x="1645920" y="0"/>
                </a:lnTo>
                <a:lnTo>
                  <a:pt x="1645920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575304"/>
            <a:ext cx="1554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功能密集迭代周期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6858000" y="109728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1828800" y="914400"/>
                </a:moveTo>
                <a:cubicBezTo>
                  <a:pt x="1828800" y="1419071"/>
                  <a:pt x="1419071" y="1828800"/>
                  <a:pt x="914400" y="1828800"/>
                </a:cubicBezTo>
                <a:cubicBezTo>
                  <a:pt x="409729" y="1828800"/>
                  <a:pt x="0" y="1419071"/>
                  <a:pt x="0" y="914400"/>
                </a:cubicBezTo>
                <a:cubicBezTo>
                  <a:pt x="0" y="409729"/>
                  <a:pt x="409729" y="0"/>
                  <a:pt x="914400" y="0"/>
                </a:cubicBezTo>
                <a:cubicBezTo>
                  <a:pt x="1419071" y="0"/>
                  <a:pt x="1828800" y="409729"/>
                  <a:pt x="1828800" y="914400"/>
                </a:cubicBezTo>
                <a:close/>
              </a:path>
            </a:pathLst>
          </a:custGeom>
          <a:solidFill>
            <a:srgbClr val="4FC3F7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0" y="3200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457200"/>
                </a:moveTo>
                <a:cubicBezTo>
                  <a:pt x="914400" y="709536"/>
                  <a:pt x="709536" y="914400"/>
                  <a:pt x="457200" y="914400"/>
                </a:cubicBezTo>
                <a:cubicBezTo>
                  <a:pt x="204864" y="914400"/>
                  <a:pt x="0" y="709536"/>
                  <a:pt x="0" y="457200"/>
                </a:cubicBezTo>
                <a:cubicBezTo>
                  <a:pt x="0" y="204864"/>
                  <a:pt x="204864" y="0"/>
                  <a:pt x="457200" y="0"/>
                </a:cubicBezTo>
                <a:cubicBezTo>
                  <a:pt x="709536" y="0"/>
                  <a:pt x="914400" y="204864"/>
                  <a:pt x="914400" y="457200"/>
                </a:cubicBezTo>
                <a:close/>
              </a:path>
            </a:pathLst>
          </a:custGeom>
          <a:solidFill>
            <a:srgbClr val="4FC3F7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4572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4FC3F7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custGeom>
            <a:avLst/>
            <a:gdLst/>
            <a:ahLst/>
            <a:cxnLst/>
            <a:rect l="l" t="t" r="r" b="b"/>
            <a:pathLst>
              <a:path w="9144000" h="54864">
                <a:moveTo>
                  <a:pt x="0" y="0"/>
                </a:moveTo>
                <a:lnTo>
                  <a:pt x="9144000" y="0"/>
                </a:lnTo>
                <a:lnTo>
                  <a:pt x="9144000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本周总览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45720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0C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两条核心主线 · 全局规模一览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3931920" cy="1280160"/>
          </a:xfrm>
          <a:custGeom>
            <a:avLst/>
            <a:gdLst/>
            <a:ahLst/>
            <a:cxnLst/>
            <a:rect l="l" t="t" r="r" b="b"/>
            <a:pathLst>
              <a:path w="3931920" h="1280160">
                <a:moveTo>
                  <a:pt x="0" y="0"/>
                </a:moveTo>
                <a:lnTo>
                  <a:pt x="3931920" y="0"/>
                </a:lnTo>
                <a:lnTo>
                  <a:pt x="393192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64792"/>
            <a:ext cx="35661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主线一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核心功能扩展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731520" y="2542032"/>
            <a:ext cx="35661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项新功能 + 1 项数据库地基重构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3931920" cy="1280160"/>
          </a:xfrm>
          <a:custGeom>
            <a:avLst/>
            <a:gdLst/>
            <a:ahLst/>
            <a:cxnLst/>
            <a:rect l="l" t="t" r="r" b="b"/>
            <a:pathLst>
              <a:path w="3931920" h="1280160">
                <a:moveTo>
                  <a:pt x="0" y="0"/>
                </a:moveTo>
                <a:lnTo>
                  <a:pt x="3931920" y="0"/>
                </a:lnTo>
                <a:lnTo>
                  <a:pt x="393192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764792"/>
            <a:ext cx="35661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主线二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4846320" y="2103120"/>
            <a:ext cx="35661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 UX 体验增强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4846320" y="2542032"/>
            <a:ext cx="35661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阅读页向成熟产品看齐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8046720" cy="1097280"/>
          </a:xfrm>
          <a:custGeom>
            <a:avLst/>
            <a:gdLst/>
            <a:ahLst/>
            <a:cxnLst/>
            <a:rect l="l" t="t" r="r" b="b"/>
            <a:pathLst>
              <a:path w="8046720" h="1097280">
                <a:moveTo>
                  <a:pt x="0" y="0"/>
                </a:moveTo>
                <a:lnTo>
                  <a:pt x="8046720" y="0"/>
                </a:lnTo>
                <a:lnTo>
                  <a:pt x="80467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6244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337560"/>
            <a:ext cx="17373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731520" y="3840480"/>
            <a:ext cx="1737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0C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文件改动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2651760" y="3337560"/>
            <a:ext cx="1828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+4690 / -95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2651760" y="3840480"/>
            <a:ext cx="18288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0C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代码行变动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4663440" y="3337560"/>
            <a:ext cx="17373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1152" dirty="0"/>
          </a:p>
        </p:txBody>
      </p:sp>
      <p:sp>
        <p:nvSpPr>
          <p:cNvPr id="21" name="Text 18"/>
          <p:cNvSpPr/>
          <p:nvPr/>
        </p:nvSpPr>
        <p:spPr>
          <a:xfrm>
            <a:off x="4663440" y="3840480"/>
            <a:ext cx="1737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0C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次提交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6583680" y="3337560"/>
            <a:ext cx="1828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CE9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6-22 / 6-24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6583680" y="3840480"/>
            <a:ext cx="18288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0C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集中产出日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66344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Dev Report · 2024 W26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核心功能扩展 · 地基与 A 档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914400" y="1097280"/>
            <a:ext cx="7315200" cy="18288"/>
          </a:xfrm>
          <a:custGeom>
            <a:avLst/>
            <a:gdLst/>
            <a:ahLst/>
            <a:cxnLst/>
            <a:rect l="l" t="t" r="r" b="b"/>
            <a:pathLst>
              <a:path w="7315200" h="18288">
                <a:moveTo>
                  <a:pt x="0" y="0"/>
                </a:moveTo>
                <a:lnTo>
                  <a:pt x="7315200" y="0"/>
                </a:lnTo>
                <a:lnTo>
                  <a:pt x="73152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2588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417320"/>
            <a:ext cx="548640" cy="457200"/>
          </a:xfrm>
          <a:custGeom>
            <a:avLst/>
            <a:gdLst/>
            <a:ahLst/>
            <a:cxnLst/>
            <a:rect l="l" t="t" r="r" b="b"/>
            <a:pathLst>
              <a:path w="548640" h="457200">
                <a:moveTo>
                  <a:pt x="0" y="0"/>
                </a:moveTo>
                <a:lnTo>
                  <a:pt x="548640" y="0"/>
                </a:lnTo>
                <a:lnTo>
                  <a:pt x="54864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463040"/>
            <a:ext cx="512064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1325880" y="1435608"/>
            <a:ext cx="71323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数据库版本化迁移（PRAGMA user_version）+ WAL 模式 → 可持续升级机制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3886200" cy="822960"/>
          </a:xfrm>
          <a:custGeom>
            <a:avLst/>
            <a:gdLst/>
            <a:ahLst/>
            <a:cxnLst/>
            <a:rect l="l" t="t" r="r" b="b"/>
            <a:pathLst>
              <a:path w="3886200" h="822960">
                <a:moveTo>
                  <a:pt x="0" y="0"/>
                </a:moveTo>
                <a:lnTo>
                  <a:pt x="3886200" y="0"/>
                </a:lnTo>
                <a:lnTo>
                  <a:pt x="38862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10312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167128"/>
            <a:ext cx="36118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全文搜索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虚拟表 + 触发器同步 + 防抖搜索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4709160" y="2103120"/>
            <a:ext cx="3886200" cy="822960"/>
          </a:xfrm>
          <a:custGeom>
            <a:avLst/>
            <a:gdLst/>
            <a:ahLst/>
            <a:cxnLst/>
            <a:rect l="l" t="t" r="r" b="b"/>
            <a:pathLst>
              <a:path w="3886200" h="822960">
                <a:moveTo>
                  <a:pt x="0" y="0"/>
                </a:moveTo>
                <a:lnTo>
                  <a:pt x="3886200" y="0"/>
                </a:lnTo>
                <a:lnTo>
                  <a:pt x="38862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9160" y="210312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4" name="Text 11"/>
          <p:cNvSpPr/>
          <p:nvPr/>
        </p:nvSpPr>
        <p:spPr>
          <a:xfrm>
            <a:off x="4873752" y="2167128"/>
            <a:ext cx="36118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逐段翻译 · 双语对照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流式推送 + 指数退避重试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3886200" cy="822960"/>
          </a:xfrm>
          <a:custGeom>
            <a:avLst/>
            <a:gdLst/>
            <a:ahLst/>
            <a:cxnLst/>
            <a:rect l="l" t="t" r="r" b="b"/>
            <a:pathLst>
              <a:path w="3886200" h="822960">
                <a:moveTo>
                  <a:pt x="0" y="0"/>
                </a:moveTo>
                <a:lnTo>
                  <a:pt x="3886200" y="0"/>
                </a:lnTo>
                <a:lnTo>
                  <a:pt x="38862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306324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3127248"/>
            <a:ext cx="36118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划词高亮 + 笔记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多色高亮 + 浮动工具栏 + 重定位着色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4709160" y="3063240"/>
            <a:ext cx="3886200" cy="822960"/>
          </a:xfrm>
          <a:custGeom>
            <a:avLst/>
            <a:gdLst/>
            <a:ahLst/>
            <a:cxnLst/>
            <a:rect l="l" t="t" r="r" b="b"/>
            <a:pathLst>
              <a:path w="3886200" h="822960">
                <a:moveTo>
                  <a:pt x="0" y="0"/>
                </a:moveTo>
                <a:lnTo>
                  <a:pt x="3886200" y="0"/>
                </a:lnTo>
                <a:lnTo>
                  <a:pt x="38862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9" name="Shape 16"/>
          <p:cNvSpPr/>
          <p:nvPr/>
        </p:nvSpPr>
        <p:spPr>
          <a:xfrm>
            <a:off x="4709160" y="306324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9B59B6"/>
          </a:solidFill>
          <a:ln/>
        </p:spPr>
      </p:sp>
      <p:sp>
        <p:nvSpPr>
          <p:cNvPr id="20" name="Text 17"/>
          <p:cNvSpPr/>
          <p:nvPr/>
        </p:nvSpPr>
        <p:spPr>
          <a:xfrm>
            <a:off x="4873752" y="3127248"/>
            <a:ext cx="36118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9B5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摘要分档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 / 中 / 长三档，差异化 prompt 与 token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548640" y="402336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023360"/>
            <a:ext cx="45720" cy="640080"/>
          </a:xfrm>
          <a:custGeom>
            <a:avLst/>
            <a:gdLst/>
            <a:ahLst/>
            <a:cxnLst/>
            <a:rect l="l" t="t" r="r" b="b"/>
            <a:pathLst>
              <a:path w="45720" h="640080">
                <a:moveTo>
                  <a:pt x="0" y="0"/>
                </a:moveTo>
                <a:lnTo>
                  <a:pt x="45720" y="0"/>
                </a:lnTo>
                <a:lnTo>
                  <a:pt x="45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4114800"/>
            <a:ext cx="77266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A5 API Key 加密存储</a:t>
            </a:r>
            <a:r>
              <a:rPr lang="en-US" sz="1152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Electron safeStorage 加密 · 历史明文自动迁移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核心功能扩展 · B 档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AA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项增强功能概览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931920" cy="1417320"/>
          </a:xfrm>
          <a:custGeom>
            <a:avLst/>
            <a:gdLst/>
            <a:ahLst/>
            <a:cxnLst/>
            <a:rect l="l" t="t" r="r" b="b"/>
            <a:pathLst>
              <a:path w="3931920" h="1417320">
                <a:moveTo>
                  <a:pt x="0" y="0"/>
                </a:moveTo>
                <a:lnTo>
                  <a:pt x="3931920" y="0"/>
                </a:lnTo>
                <a:lnTo>
                  <a:pt x="3931920" y="1417320"/>
                </a:lnTo>
                <a:lnTo>
                  <a:pt x="0" y="141732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4663440" y="1554480"/>
            <a:ext cx="3931920" cy="1417320"/>
          </a:xfrm>
          <a:custGeom>
            <a:avLst/>
            <a:gdLst/>
            <a:ahLst/>
            <a:cxnLst/>
            <a:rect l="l" t="t" r="r" b="b"/>
            <a:pathLst>
              <a:path w="3931920" h="1417320">
                <a:moveTo>
                  <a:pt x="0" y="0"/>
                </a:moveTo>
                <a:lnTo>
                  <a:pt x="3931920" y="0"/>
                </a:lnTo>
                <a:lnTo>
                  <a:pt x="3931920" y="1417320"/>
                </a:lnTo>
                <a:lnTo>
                  <a:pt x="0" y="141732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154680"/>
            <a:ext cx="3931920" cy="1417320"/>
          </a:xfrm>
          <a:custGeom>
            <a:avLst/>
            <a:gdLst/>
            <a:ahLst/>
            <a:cxnLst/>
            <a:rect l="l" t="t" r="r" b="b"/>
            <a:pathLst>
              <a:path w="3931920" h="1417320">
                <a:moveTo>
                  <a:pt x="0" y="0"/>
                </a:moveTo>
                <a:lnTo>
                  <a:pt x="3931920" y="0"/>
                </a:lnTo>
                <a:lnTo>
                  <a:pt x="3931920" y="1417320"/>
                </a:lnTo>
                <a:lnTo>
                  <a:pt x="0" y="141732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8" name="Shape 5"/>
          <p:cNvSpPr/>
          <p:nvPr/>
        </p:nvSpPr>
        <p:spPr>
          <a:xfrm>
            <a:off x="4663440" y="3154680"/>
            <a:ext cx="3931920" cy="1417320"/>
          </a:xfrm>
          <a:custGeom>
            <a:avLst/>
            <a:gdLst/>
            <a:ahLst/>
            <a:cxnLst/>
            <a:rect l="l" t="t" r="r" b="b"/>
            <a:pathLst>
              <a:path w="3931920" h="1417320">
                <a:moveTo>
                  <a:pt x="0" y="0"/>
                </a:moveTo>
                <a:lnTo>
                  <a:pt x="3931920" y="0"/>
                </a:lnTo>
                <a:lnTo>
                  <a:pt x="3931920" y="1417320"/>
                </a:lnTo>
                <a:lnTo>
                  <a:pt x="0" y="141732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645920"/>
            <a:ext cx="10972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用量统计面板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731520" y="2304288"/>
            <a:ext cx="35661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按模型 / 日期 / Agent 聚合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轻量表格 + CSS 柱状图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10972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4846320" y="1920240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文章收藏 / 星标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4846320" y="2304288"/>
            <a:ext cx="35661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列表与阅读页加星标按钮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侧栏加收藏入口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731520" y="3246120"/>
            <a:ext cx="10972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731520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阅读进度记忆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731520" y="3904488"/>
            <a:ext cx="35661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滚动防抖保存 scroll_percent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重开自动恢复阅读位置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4846320" y="3246120"/>
            <a:ext cx="10972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CE9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4846320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建议标签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4846320" y="3904488"/>
            <a:ext cx="35661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TagSuggestionAgent 优先复用已有标签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用户勾选确认后才写入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custGeom>
            <a:avLst/>
            <a:gdLst/>
            <a:ahLst/>
            <a:cxnLst/>
            <a:rect l="l" t="t" r="r" b="b"/>
            <a:pathLst>
              <a:path w="9144000" h="822960">
                <a:moveTo>
                  <a:pt x="0" y="0"/>
                </a:moveTo>
                <a:lnTo>
                  <a:pt x="9144000" y="0"/>
                </a:lnTo>
                <a:lnTo>
                  <a:pt x="91440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64592"/>
            <a:ext cx="548640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 UX 体验增强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566928"/>
            <a:ext cx="36576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读得更舒服 · 操作更顺手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2468880" cy="1097280"/>
          </a:xfrm>
          <a:custGeom>
            <a:avLst/>
            <a:gdLst/>
            <a:ahLst/>
            <a:cxnLst/>
            <a:rect l="l" t="t" r="r" b="b"/>
            <a:pathLst>
              <a:path w="2468880" h="1097280">
                <a:moveTo>
                  <a:pt x="0" y="0"/>
                </a:moveTo>
                <a:lnTo>
                  <a:pt x="2468880" y="0"/>
                </a:lnTo>
                <a:lnTo>
                  <a:pt x="246888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7899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快捷阅读设置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85800" y="1417320"/>
            <a:ext cx="21945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字号 / 行高 / 阅读宽度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即时调节，实时预览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2468880" cy="1097280"/>
          </a:xfrm>
          <a:custGeom>
            <a:avLst/>
            <a:gdLst/>
            <a:ahLst/>
            <a:cxnLst/>
            <a:rect l="l" t="t" r="r" b="b"/>
            <a:pathLst>
              <a:path w="2468880" h="1097280">
                <a:moveTo>
                  <a:pt x="0" y="0"/>
                </a:moveTo>
                <a:lnTo>
                  <a:pt x="2468880" y="0"/>
                </a:lnTo>
                <a:lnTo>
                  <a:pt x="246888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107899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阅读进度条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74720" y="1417320"/>
            <a:ext cx="21945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顶部进度指示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一键回到顶部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6126480" y="1005840"/>
            <a:ext cx="2468880" cy="1097280"/>
          </a:xfrm>
          <a:custGeom>
            <a:avLst/>
            <a:gdLst/>
            <a:ahLst/>
            <a:cxnLst/>
            <a:rect l="l" t="t" r="r" b="b"/>
            <a:pathLst>
              <a:path w="2468880" h="1097280">
                <a:moveTo>
                  <a:pt x="0" y="0"/>
                </a:moveTo>
                <a:lnTo>
                  <a:pt x="2468880" y="0"/>
                </a:lnTo>
                <a:lnTo>
                  <a:pt x="246888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07899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文章导航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6263640" y="1417320"/>
            <a:ext cx="21945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上一篇 / 下一篇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快速切换阅读内容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48640" y="2286000"/>
            <a:ext cx="2468880" cy="1097280"/>
          </a:xfrm>
          <a:custGeom>
            <a:avLst/>
            <a:gdLst/>
            <a:ahLst/>
            <a:cxnLst/>
            <a:rect l="l" t="t" r="r" b="b"/>
            <a:pathLst>
              <a:path w="2468880" h="1097280">
                <a:moveTo>
                  <a:pt x="0" y="0"/>
                </a:moveTo>
                <a:lnTo>
                  <a:pt x="2468880" y="0"/>
                </a:lnTo>
                <a:lnTo>
                  <a:pt x="246888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35915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代码块复制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685800" y="2697480"/>
            <a:ext cx="21945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一键复制代码内容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减少手动选取操作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3337560" y="2286000"/>
            <a:ext cx="2468880" cy="1097280"/>
          </a:xfrm>
          <a:custGeom>
            <a:avLst/>
            <a:gdLst/>
            <a:ahLst/>
            <a:cxnLst/>
            <a:rect l="l" t="t" r="r" b="b"/>
            <a:pathLst>
              <a:path w="2468880" h="1097280">
                <a:moveTo>
                  <a:pt x="0" y="0"/>
                </a:moveTo>
                <a:lnTo>
                  <a:pt x="2468880" y="0"/>
                </a:lnTo>
                <a:lnTo>
                  <a:pt x="246888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9" name="Text 16"/>
          <p:cNvSpPr/>
          <p:nvPr/>
        </p:nvSpPr>
        <p:spPr>
          <a:xfrm>
            <a:off x="3474720" y="235915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🖼️ 图片灯箱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3474720" y="2697480"/>
            <a:ext cx="21945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点击图片放大查看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Lightbox 沉浸浏览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6126480" y="2286000"/>
            <a:ext cx="2468880" cy="1097280"/>
          </a:xfrm>
          <a:custGeom>
            <a:avLst/>
            <a:gdLst/>
            <a:ahLst/>
            <a:cxnLst/>
            <a:rect l="l" t="t" r="r" b="b"/>
            <a:pathLst>
              <a:path w="2468880" h="1097280">
                <a:moveTo>
                  <a:pt x="0" y="0"/>
                </a:moveTo>
                <a:lnTo>
                  <a:pt x="2468880" y="0"/>
                </a:lnTo>
                <a:lnTo>
                  <a:pt x="246888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235915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迷你浏览器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6263640" y="2697480"/>
            <a:ext cx="21945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内嵌原网页查看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无需跳出应用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548640" y="356616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657600"/>
            <a:ext cx="76809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摘要流式实时显示</a:t>
            </a:r>
            <a:endParaRPr lang="en-US" sz="1152" dirty="0"/>
          </a:p>
        </p:txBody>
      </p:sp>
      <p:sp>
        <p:nvSpPr>
          <p:cNvPr id="26" name="Text 23"/>
          <p:cNvSpPr/>
          <p:nvPr/>
        </p:nvSpPr>
        <p:spPr>
          <a:xfrm>
            <a:off x="685800" y="3995928"/>
            <a:ext cx="76809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摘要边生成边展示，实时反馈生成进度，降低等待焦虑</a:t>
            </a:r>
            <a:endParaRPr lang="en-US" sz="1152" dirty="0"/>
          </a:p>
        </p:txBody>
      </p:sp>
      <p:sp>
        <p:nvSpPr>
          <p:cNvPr id="27" name="Shape 24"/>
          <p:cNvSpPr/>
          <p:nvPr/>
        </p:nvSpPr>
        <p:spPr>
          <a:xfrm>
            <a:off x="548640" y="466344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233554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4736592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项交互增强 · 提升沉浸式阅读体验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8229600" cy="548640"/>
          </a:xfrm>
          <a:custGeom>
            <a:avLst/>
            <a:gdLst/>
            <a:ahLst/>
            <a:cxnLst/>
            <a:rect l="l" t="t" r="r" b="b"/>
            <a:pathLst>
              <a:path w="8229600" h="548640">
                <a:moveTo>
                  <a:pt x="0" y="0"/>
                </a:moveTo>
                <a:lnTo>
                  <a:pt x="8229600" y="0"/>
                </a:lnTo>
                <a:lnTo>
                  <a:pt x="822960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5720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稳定性与安全加固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3200400" y="987552"/>
            <a:ext cx="2743200" cy="27432"/>
          </a:xfrm>
          <a:custGeom>
            <a:avLst/>
            <a:gdLst/>
            <a:ahLst/>
            <a:cxnLst/>
            <a:rect l="l" t="t" r="r" b="b"/>
            <a:pathLst>
              <a:path w="2743200" h="27432">
                <a:moveTo>
                  <a:pt x="0" y="0"/>
                </a:moveTo>
                <a:lnTo>
                  <a:pt x="2743200" y="0"/>
                </a:lnTo>
                <a:lnTo>
                  <a:pt x="274320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18872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1F2A4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18872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25272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API 安全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解密失败 → 记录日志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safeStorage 不可用 → 跳过冗余迁移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1F2A48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18872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FB74D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25272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高亮防护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颜色白名单 + 函数式 replace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规避属性 XSS 与 $ 替换 bug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48640" y="214884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1F2A48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214884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21284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66B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搜索健壮性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标点查询 → 返回空（避免 FTS5 语法错误）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删除源时同步清理 FTS 索引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663440" y="214884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1F2A48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2148840"/>
            <a:ext cx="45720" cy="822960"/>
          </a:xfrm>
          <a:custGeom>
            <a:avLst/>
            <a:gdLst/>
            <a:ahLst/>
            <a:cxnLst/>
            <a:rect l="l" t="t" r="r" b="b"/>
            <a:pathLst>
              <a:path w="45720" h="822960">
                <a:moveTo>
                  <a:pt x="0" y="0"/>
                </a:moveTo>
                <a:lnTo>
                  <a:pt x="45720" y="0"/>
                </a:lnTo>
                <a:lnTo>
                  <a:pt x="45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AB47BC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221284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AB47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阅读器竞态修复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滚动保存/摘要写入绑定文章 ID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防止切换时数据错配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548640" y="310896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1F2A48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3108960"/>
            <a:ext cx="45720" cy="731520"/>
          </a:xfrm>
          <a:custGeom>
            <a:avLst/>
            <a:gdLst/>
            <a:ahLst/>
            <a:cxnLst/>
            <a:rect l="l" t="t" r="r" b="b"/>
            <a:pathLst>
              <a:path w="45720" h="731520">
                <a:moveTo>
                  <a:pt x="0" y="0"/>
                </a:moveTo>
                <a:lnTo>
                  <a:pt x="45720" y="0"/>
                </a:lnTo>
                <a:lnTo>
                  <a:pt x="45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200400"/>
            <a:ext cx="768096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🌙 暗色模式适配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灯箱与高亮工具栏冲突处理 · z-index 层级规范 · 交互状态隔离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548640" y="406908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D1B2A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151376"/>
            <a:ext cx="76809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本周重点：防御性编程 · 竞态隔离 · 输入校验 · 索引一致性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Thinking &amp; Design Philosophy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914400" y="1444752"/>
            <a:ext cx="7315200" cy="18288"/>
          </a:xfrm>
          <a:custGeom>
            <a:avLst/>
            <a:gdLst/>
            <a:ahLst/>
            <a:cxnLst/>
            <a:rect l="l" t="t" r="r" b="b"/>
            <a:pathLst>
              <a:path w="7315200" h="18288">
                <a:moveTo>
                  <a:pt x="0" y="0"/>
                </a:moveTo>
                <a:lnTo>
                  <a:pt x="7315200" y="0"/>
                </a:lnTo>
                <a:lnTo>
                  <a:pt x="73152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2D2D4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645920"/>
            <a:ext cx="45720" cy="475488"/>
          </a:xfrm>
          <a:custGeom>
            <a:avLst/>
            <a:gdLst/>
            <a:ahLst/>
            <a:cxnLst/>
            <a:rect l="l" t="t" r="r" b="b"/>
            <a:pathLst>
              <a:path w="45720" h="475488">
                <a:moveTo>
                  <a:pt x="0" y="0"/>
                </a:moveTo>
                <a:lnTo>
                  <a:pt x="45720" y="0"/>
                </a:lnTo>
                <a:lnTo>
                  <a:pt x="45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45920"/>
            <a:ext cx="7863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64F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事件推送架构</a:t>
            </a:r>
            <a:r>
              <a:rPr lang="en-US" sz="1152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从请求/响应升级为主进程→渲染进程事件通道，支撑流式翻译与摘要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45720" cy="475488"/>
          </a:xfrm>
          <a:custGeom>
            <a:avLst/>
            <a:gdLst/>
            <a:ahLst/>
            <a:cxnLst/>
            <a:rect l="l" t="t" r="r" b="b"/>
            <a:pathLst>
              <a:path w="45720" h="475488">
                <a:moveTo>
                  <a:pt x="0" y="0"/>
                </a:moveTo>
                <a:lnTo>
                  <a:pt x="45720" y="0"/>
                </a:lnTo>
                <a:lnTo>
                  <a:pt x="45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240280"/>
            <a:ext cx="7863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版本化数据库迁移</a:t>
            </a:r>
            <a:r>
              <a:rPr lang="en-US" sz="1152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从临时单表迁移升级为有序迁移体系 + WAL 模式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45720" cy="475488"/>
          </a:xfrm>
          <a:custGeom>
            <a:avLst/>
            <a:gdLst/>
            <a:ahLst/>
            <a:cxnLst/>
            <a:rect l="l" t="t" r="r" b="b"/>
            <a:pathLst>
              <a:path w="45720" h="475488">
                <a:moveTo>
                  <a:pt x="0" y="0"/>
                </a:moveTo>
                <a:lnTo>
                  <a:pt x="45720" y="0"/>
                </a:lnTo>
                <a:lnTo>
                  <a:pt x="45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834640"/>
            <a:ext cx="7863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安全意识落地</a:t>
            </a:r>
            <a:r>
              <a:rPr lang="en-US" sz="1152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密钥加密存储 + 历史明文自动迁移 + 输入/属性层 XSS 防护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45720" cy="475488"/>
          </a:xfrm>
          <a:custGeom>
            <a:avLst/>
            <a:gdLst/>
            <a:ahLst/>
            <a:cxnLst/>
            <a:rect l="l" t="t" r="r" b="b"/>
            <a:pathLst>
              <a:path w="45720" h="475488">
                <a:moveTo>
                  <a:pt x="0" y="0"/>
                </a:moveTo>
                <a:lnTo>
                  <a:pt x="45720" y="0"/>
                </a:lnTo>
                <a:lnTo>
                  <a:pt x="45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A78BF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429000"/>
            <a:ext cx="7863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以人为本</a:t>
            </a:r>
            <a:r>
              <a:rPr lang="en-US" sz="1152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标签建议、摘要分档，强调"AI 给建议、用户做决定"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45720" cy="475488"/>
          </a:xfrm>
          <a:custGeom>
            <a:avLst/>
            <a:gdLst/>
            <a:ahLst/>
            <a:cxnLst/>
            <a:rect l="l" t="t" r="r" b="b"/>
            <a:pathLst>
              <a:path w="45720" h="475488">
                <a:moveTo>
                  <a:pt x="0" y="0"/>
                </a:moveTo>
                <a:lnTo>
                  <a:pt x="45720" y="0"/>
                </a:lnTo>
                <a:lnTo>
                  <a:pt x="45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023360"/>
            <a:ext cx="7863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竞态防护</a:t>
            </a:r>
            <a:r>
              <a:rPr lang="en-US" sz="1152" dirty="0">
                <a:solidFill>
                  <a:srgbClr val="CCD6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多处用文章 ID 绑定异步写入，规避切换文章时的数据错配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0C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后续迭代方向与收尾事项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4FC3F7">
              <a:alpha val="4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45920"/>
            <a:ext cx="2468880" cy="1325880"/>
          </a:xfrm>
          <a:custGeom>
            <a:avLst/>
            <a:gdLst/>
            <a:ahLst/>
            <a:cxnLst/>
            <a:rect l="l" t="t" r="r" b="b"/>
            <a:pathLst>
              <a:path w="2468880" h="1325880">
                <a:moveTo>
                  <a:pt x="0" y="0"/>
                </a:moveTo>
                <a:lnTo>
                  <a:pt x="2468880" y="0"/>
                </a:lnTo>
                <a:lnTo>
                  <a:pt x="2468880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645920"/>
            <a:ext cx="36576" cy="1325880"/>
          </a:xfrm>
          <a:custGeom>
            <a:avLst/>
            <a:gdLst/>
            <a:ahLst/>
            <a:cxnLst/>
            <a:rect l="l" t="t" r="r" b="b"/>
            <a:pathLst>
              <a:path w="36576" h="1325880">
                <a:moveTo>
                  <a:pt x="0" y="0"/>
                </a:moveTo>
                <a:lnTo>
                  <a:pt x="36576" y="0"/>
                </a:lnTo>
                <a:lnTo>
                  <a:pt x="36576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719072"/>
            <a:ext cx="21031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功能收尾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2103120" cy="777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补充边界场景测试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完善错误处理机制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3337560" y="1645920"/>
            <a:ext cx="2468880" cy="1325880"/>
          </a:xfrm>
          <a:custGeom>
            <a:avLst/>
            <a:gdLst/>
            <a:ahLst/>
            <a:cxnLst/>
            <a:rect l="l" t="t" r="r" b="b"/>
            <a:pathLst>
              <a:path w="2468880" h="1325880">
                <a:moveTo>
                  <a:pt x="0" y="0"/>
                </a:moveTo>
                <a:lnTo>
                  <a:pt x="2468880" y="0"/>
                </a:lnTo>
                <a:lnTo>
                  <a:pt x="2468880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1645920"/>
            <a:ext cx="36576" cy="1325880"/>
          </a:xfrm>
          <a:custGeom>
            <a:avLst/>
            <a:gdLst/>
            <a:ahLst/>
            <a:cxnLst/>
            <a:rect l="l" t="t" r="r" b="b"/>
            <a:pathLst>
              <a:path w="36576" h="1325880">
                <a:moveTo>
                  <a:pt x="0" y="0"/>
                </a:moveTo>
                <a:lnTo>
                  <a:pt x="36576" y="0"/>
                </a:lnTo>
                <a:lnTo>
                  <a:pt x="36576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1719072"/>
            <a:ext cx="21031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66B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3520440" y="2084832"/>
            <a:ext cx="2103120" cy="777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FTS 索引调优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列表渲染性能优化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2468880" cy="1325880"/>
          </a:xfrm>
          <a:custGeom>
            <a:avLst/>
            <a:gdLst/>
            <a:ahLst/>
            <a:cxnLst/>
            <a:rect l="l" t="t" r="r" b="b"/>
            <a:pathLst>
              <a:path w="2468880" h="1325880">
                <a:moveTo>
                  <a:pt x="0" y="0"/>
                </a:moveTo>
                <a:lnTo>
                  <a:pt x="2468880" y="0"/>
                </a:lnTo>
                <a:lnTo>
                  <a:pt x="2468880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3246120"/>
            <a:ext cx="36576" cy="1325880"/>
          </a:xfrm>
          <a:custGeom>
            <a:avLst/>
            <a:gdLst/>
            <a:ahLst/>
            <a:cxnLst/>
            <a:rect l="l" t="t" r="r" b="b"/>
            <a:pathLst>
              <a:path w="36576" h="1325880">
                <a:moveTo>
                  <a:pt x="0" y="0"/>
                </a:moveTo>
                <a:lnTo>
                  <a:pt x="36576" y="0"/>
                </a:lnTo>
                <a:lnTo>
                  <a:pt x="36576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FFA726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319272"/>
            <a:ext cx="21031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A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打磨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731520" y="3685032"/>
            <a:ext cx="2103120" cy="777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统一交互反馈动效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完善响应式适配</a:t>
            </a:r>
            <a:endParaRPr lang="en-US" sz="1152" dirty="0"/>
          </a:p>
        </p:txBody>
      </p:sp>
      <p:sp>
        <p:nvSpPr>
          <p:cNvPr id="23" name="Shape 20"/>
          <p:cNvSpPr/>
          <p:nvPr/>
        </p:nvSpPr>
        <p:spPr>
          <a:xfrm>
            <a:off x="3337560" y="3246120"/>
            <a:ext cx="2468880" cy="1325880"/>
          </a:xfrm>
          <a:custGeom>
            <a:avLst/>
            <a:gdLst/>
            <a:ahLst/>
            <a:cxnLst/>
            <a:rect l="l" t="t" r="r" b="b"/>
            <a:pathLst>
              <a:path w="5257800" h="1325880">
                <a:moveTo>
                  <a:pt x="0" y="0"/>
                </a:moveTo>
                <a:lnTo>
                  <a:pt x="5257800" y="0"/>
                </a:lnTo>
                <a:lnTo>
                  <a:pt x="5257800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263238"/>
          </a:solidFill>
          <a:ln/>
        </p:spPr>
      </p:sp>
      <p:sp>
        <p:nvSpPr>
          <p:cNvPr id="24" name="Shape 21"/>
          <p:cNvSpPr/>
          <p:nvPr/>
        </p:nvSpPr>
        <p:spPr>
          <a:xfrm>
            <a:off x="3337560" y="3246120"/>
            <a:ext cx="36576" cy="1325880"/>
          </a:xfrm>
          <a:custGeom>
            <a:avLst/>
            <a:gdLst/>
            <a:ahLst/>
            <a:cxnLst/>
            <a:rect l="l" t="t" r="r" b="b"/>
            <a:pathLst>
              <a:path w="36576" h="1325880">
                <a:moveTo>
                  <a:pt x="0" y="0"/>
                </a:moveTo>
                <a:lnTo>
                  <a:pt x="36576" y="0"/>
                </a:lnTo>
                <a:lnTo>
                  <a:pt x="36576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EF5350"/>
          </a:solidFill>
          <a:ln/>
        </p:spPr>
      </p:sp>
      <p:sp>
        <p:nvSpPr>
          <p:cNvPr id="25" name="Text 22"/>
          <p:cNvSpPr/>
          <p:nvPr/>
        </p:nvSpPr>
        <p:spPr>
          <a:xfrm>
            <a:off x="3520440" y="3319272"/>
            <a:ext cx="489204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EF5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下一迭代规划</a:t>
            </a:r>
            <a:endParaRPr lang="en-US" sz="1152" dirty="0"/>
          </a:p>
        </p:txBody>
      </p:sp>
      <p:sp>
        <p:nvSpPr>
          <p:cNvPr id="26" name="Text 23"/>
          <p:cNvSpPr/>
          <p:nvPr/>
        </p:nvSpPr>
        <p:spPr>
          <a:xfrm>
            <a:off x="3520440" y="3685032"/>
            <a:ext cx="4892040" cy="777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收集用户反馈，确定功能优先级</a:t>
            </a:r>
            <a:endParaRPr lang="en-US" sz="1152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制定迭代目标与里程碑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1291</Words>
  <Application>Microsoft Office PowerPoint</Application>
  <PresentationFormat>全屏显示(16:9)</PresentationFormat>
  <Paragraphs>127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Yinch</cp:lastModifiedBy>
  <cp:revision>3</cp:revision>
  <dcterms:created xsi:type="dcterms:W3CDTF">2026-06-25T06:21:07Z</dcterms:created>
  <dcterms:modified xsi:type="dcterms:W3CDTF">2026-06-25T06:36:58Z</dcterms:modified>
</cp:coreProperties>
</file>